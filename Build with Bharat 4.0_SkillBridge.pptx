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28D1C3-103D-4881-B646-77335A7B0A14}" v="25" dt="2026-09-30T15:11:53.8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89949" y="0"/>
            <a:ext cx="10286999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2117" y="1659019"/>
            <a:ext cx="13992225" cy="993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9679" y="3023408"/>
            <a:ext cx="15335885" cy="6689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294423" y="9723511"/>
            <a:ext cx="2567304" cy="31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5912" y="6566577"/>
            <a:ext cx="991869" cy="0"/>
          </a:xfrm>
          <a:custGeom>
            <a:avLst/>
            <a:gdLst/>
            <a:ahLst/>
            <a:cxnLst/>
            <a:rect l="l" t="t" r="r" b="b"/>
            <a:pathLst>
              <a:path w="991869">
                <a:moveTo>
                  <a:pt x="0" y="0"/>
                </a:moveTo>
                <a:lnTo>
                  <a:pt x="991267" y="0"/>
                </a:lnTo>
              </a:path>
            </a:pathLst>
          </a:custGeom>
          <a:ln w="95249">
            <a:solidFill>
              <a:srgbClr val="FF5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7530" y="0"/>
            <a:ext cx="17099280" cy="10287000"/>
            <a:chOff x="557530" y="0"/>
            <a:chExt cx="1709928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9950" y="0"/>
              <a:ext cx="10286999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55980" y="9846034"/>
              <a:ext cx="6800850" cy="127000"/>
            </a:xfrm>
            <a:custGeom>
              <a:avLst/>
              <a:gdLst/>
              <a:ahLst/>
              <a:cxnLst/>
              <a:rect l="l" t="t" r="r" b="b"/>
              <a:pathLst>
                <a:path w="6800850" h="127000">
                  <a:moveTo>
                    <a:pt x="0" y="0"/>
                  </a:moveTo>
                  <a:lnTo>
                    <a:pt x="6800500" y="0"/>
                  </a:lnTo>
                  <a:lnTo>
                    <a:pt x="6800500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7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7530" y="9846034"/>
              <a:ext cx="6633845" cy="127000"/>
            </a:xfrm>
            <a:custGeom>
              <a:avLst/>
              <a:gdLst/>
              <a:ahLst/>
              <a:cxnLst/>
              <a:rect l="l" t="t" r="r" b="b"/>
              <a:pathLst>
                <a:path w="6633845" h="127000">
                  <a:moveTo>
                    <a:pt x="0" y="0"/>
                  </a:moveTo>
                  <a:lnTo>
                    <a:pt x="6633806" y="0"/>
                  </a:lnTo>
                  <a:lnTo>
                    <a:pt x="6633806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62221" y="3795548"/>
              <a:ext cx="1966595" cy="0"/>
            </a:xfrm>
            <a:custGeom>
              <a:avLst/>
              <a:gdLst/>
              <a:ahLst/>
              <a:cxnLst/>
              <a:rect l="l" t="t" r="r" b="b"/>
              <a:pathLst>
                <a:path w="1966595">
                  <a:moveTo>
                    <a:pt x="0" y="0"/>
                  </a:moveTo>
                  <a:lnTo>
                    <a:pt x="1966217" y="0"/>
                  </a:lnTo>
                </a:path>
              </a:pathLst>
            </a:custGeom>
            <a:ln w="5359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049522" y="1531316"/>
            <a:ext cx="6069330" cy="2216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350" spc="175" dirty="0"/>
              <a:t>BUILD</a:t>
            </a:r>
            <a:endParaRPr sz="14350"/>
          </a:p>
        </p:txBody>
      </p:sp>
      <p:sp>
        <p:nvSpPr>
          <p:cNvPr id="9" name="object 9"/>
          <p:cNvSpPr txBox="1"/>
          <p:nvPr/>
        </p:nvSpPr>
        <p:spPr>
          <a:xfrm>
            <a:off x="8291455" y="3416563"/>
            <a:ext cx="151003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b="1" spc="-20" dirty="0">
                <a:solidFill>
                  <a:srgbClr val="8725B4"/>
                </a:solidFill>
                <a:latin typeface="Tahoma"/>
                <a:cs typeface="Tahoma"/>
              </a:rPr>
              <a:t>WITH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64093" y="3391689"/>
            <a:ext cx="9276715" cy="2629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50" spc="170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z="17050" spc="259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7050" b="1" spc="-114" dirty="0">
                <a:solidFill>
                  <a:srgbClr val="FF5C1F"/>
                </a:solidFill>
                <a:latin typeface="Verdana"/>
                <a:cs typeface="Verdana"/>
              </a:rPr>
              <a:t>4</a:t>
            </a:r>
            <a:r>
              <a:rPr sz="17050" b="1" spc="-745" dirty="0">
                <a:solidFill>
                  <a:srgbClr val="FF5C1F"/>
                </a:solidFill>
                <a:latin typeface="Verdana"/>
                <a:cs typeface="Verdana"/>
              </a:rPr>
              <a:t>.</a:t>
            </a:r>
            <a:r>
              <a:rPr sz="17050" b="1" spc="-455" dirty="0">
                <a:solidFill>
                  <a:srgbClr val="FF5C1F"/>
                </a:solidFill>
                <a:latin typeface="Verdana"/>
                <a:cs typeface="Verdana"/>
              </a:rPr>
              <a:t>0</a:t>
            </a:r>
            <a:endParaRPr sz="170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30961" y="133038"/>
            <a:ext cx="5489575" cy="6279515"/>
            <a:chOff x="6530961" y="133038"/>
            <a:chExt cx="5489575" cy="6279515"/>
          </a:xfrm>
        </p:grpSpPr>
        <p:sp>
          <p:nvSpPr>
            <p:cNvPr id="12" name="object 12"/>
            <p:cNvSpPr/>
            <p:nvPr/>
          </p:nvSpPr>
          <p:spPr>
            <a:xfrm>
              <a:off x="10053790" y="3815654"/>
              <a:ext cx="1966595" cy="0"/>
            </a:xfrm>
            <a:custGeom>
              <a:avLst/>
              <a:gdLst/>
              <a:ahLst/>
              <a:cxnLst/>
              <a:rect l="l" t="t" r="r" b="b"/>
              <a:pathLst>
                <a:path w="1966595">
                  <a:moveTo>
                    <a:pt x="0" y="0"/>
                  </a:moveTo>
                  <a:lnTo>
                    <a:pt x="1966218" y="0"/>
                  </a:lnTo>
                </a:path>
              </a:pathLst>
            </a:custGeom>
            <a:ln w="53599">
              <a:solidFill>
                <a:srgbClr val="1476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41909" y="6169789"/>
              <a:ext cx="217905" cy="21790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10781" y="6184752"/>
              <a:ext cx="227430" cy="22743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89179" y="6189515"/>
              <a:ext cx="217905" cy="21790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75659" y="133038"/>
              <a:ext cx="2442693" cy="179577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0961" y="194675"/>
              <a:ext cx="1393753" cy="167250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017569" y="5679569"/>
            <a:ext cx="440753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55" dirty="0">
                <a:solidFill>
                  <a:srgbClr val="222222"/>
                </a:solidFill>
                <a:latin typeface="Tahoma"/>
                <a:cs typeface="Tahoma"/>
              </a:rPr>
              <a:t>NATIONAL</a:t>
            </a:r>
            <a:r>
              <a:rPr sz="2100" b="1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100" b="1" spc="110" dirty="0">
                <a:solidFill>
                  <a:srgbClr val="222222"/>
                </a:solidFill>
                <a:latin typeface="Tahoma"/>
                <a:cs typeface="Tahoma"/>
              </a:rPr>
              <a:t>LEVEL</a:t>
            </a:r>
            <a:r>
              <a:rPr sz="2100" b="1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100" b="1" spc="100" dirty="0">
                <a:solidFill>
                  <a:srgbClr val="222222"/>
                </a:solidFill>
                <a:latin typeface="Tahoma"/>
                <a:cs typeface="Tahoma"/>
              </a:rPr>
              <a:t>HACKATHON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5912" y="6543003"/>
            <a:ext cx="15476384" cy="2272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3800"/>
              </a:lnSpc>
              <a:spcBef>
                <a:spcPts val="95"/>
              </a:spcBef>
            </a:pPr>
            <a:r>
              <a:rPr sz="2400" b="1" spc="140" dirty="0">
                <a:solidFill>
                  <a:srgbClr val="222222"/>
                </a:solidFill>
                <a:latin typeface="Tahoma"/>
                <a:cs typeface="Tahoma"/>
              </a:rPr>
              <a:t>TEAM</a:t>
            </a:r>
            <a:r>
              <a:rPr sz="2400" b="1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400" b="1" spc="65" dirty="0">
                <a:solidFill>
                  <a:srgbClr val="222222"/>
                </a:solidFill>
                <a:latin typeface="Tahoma"/>
                <a:cs typeface="Tahoma"/>
              </a:rPr>
              <a:t>NAME:</a:t>
            </a:r>
            <a:r>
              <a:rPr lang="en-IN" sz="2400" b="1" spc="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lang="en-IN" sz="2400" b="1" spc="65" dirty="0" err="1">
                <a:solidFill>
                  <a:srgbClr val="222222"/>
                </a:solidFill>
                <a:latin typeface="Tahoma"/>
                <a:cs typeface="Tahoma"/>
              </a:rPr>
              <a:t>GenerateZ</a:t>
            </a:r>
            <a:r>
              <a:rPr sz="2400" b="1" spc="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endParaRPr lang="en-US" sz="2400" b="1" spc="65" dirty="0">
              <a:solidFill>
                <a:srgbClr val="222222"/>
              </a:solidFill>
              <a:latin typeface="Tahoma"/>
              <a:cs typeface="Tahoma"/>
            </a:endParaRPr>
          </a:p>
          <a:p>
            <a:pPr marL="12700" marR="5080" algn="l">
              <a:lnSpc>
                <a:spcPct val="153800"/>
              </a:lnSpc>
              <a:spcBef>
                <a:spcPts val="95"/>
              </a:spcBef>
            </a:pPr>
            <a:r>
              <a:rPr lang="en-US" sz="2400" b="1" spc="145" dirty="0">
                <a:solidFill>
                  <a:srgbClr val="222222"/>
                </a:solidFill>
                <a:latin typeface="Tahoma"/>
                <a:cs typeface="Tahoma"/>
              </a:rPr>
              <a:t>PROBLEM</a:t>
            </a:r>
            <a:r>
              <a:rPr lang="en-US" sz="2400" b="1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lang="en-US" sz="2400" b="1" spc="-10" dirty="0">
                <a:solidFill>
                  <a:srgbClr val="222222"/>
                </a:solidFill>
                <a:latin typeface="Tahoma"/>
                <a:cs typeface="Tahoma"/>
              </a:rPr>
              <a:t>STATEMENT: </a:t>
            </a:r>
            <a:r>
              <a:rPr lang="en-IN" sz="2000" b="1" dirty="0"/>
              <a:t>Students struggle to discover collaborators whose skills complement not duplicate their own.</a:t>
            </a:r>
            <a:endParaRPr lang="en-US" sz="2000" b="1" dirty="0">
              <a:latin typeface="Tahoma"/>
              <a:cs typeface="Tahoma"/>
            </a:endParaRPr>
          </a:p>
          <a:p>
            <a:pPr marL="12700" marR="1026160">
              <a:lnSpc>
                <a:spcPct val="153800"/>
              </a:lnSpc>
              <a:spcBef>
                <a:spcPts val="225"/>
              </a:spcBef>
            </a:pPr>
            <a:r>
              <a:rPr lang="en-US" sz="2400" b="1" spc="140" dirty="0">
                <a:solidFill>
                  <a:srgbClr val="222222"/>
                </a:solidFill>
                <a:latin typeface="Tahoma"/>
                <a:cs typeface="Tahoma"/>
              </a:rPr>
              <a:t>TEAM</a:t>
            </a:r>
            <a:r>
              <a:rPr lang="en-US" sz="2400" b="1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lang="en-US" sz="2400" b="1" spc="65" dirty="0">
                <a:solidFill>
                  <a:srgbClr val="222222"/>
                </a:solidFill>
                <a:latin typeface="Tahoma"/>
                <a:cs typeface="Tahoma"/>
              </a:rPr>
              <a:t>MEMBERS: </a:t>
            </a:r>
            <a:r>
              <a:rPr lang="en-US" sz="2000" b="1" spc="65" dirty="0">
                <a:solidFill>
                  <a:srgbClr val="222222"/>
                </a:solidFill>
                <a:latin typeface="Tahoma"/>
                <a:cs typeface="Tahoma"/>
              </a:rPr>
              <a:t>Utkarsh, Rudraksh Porwal, Praveen Mishra, Ashmit Tripathi, Shaurya Tripathi</a:t>
            </a:r>
          </a:p>
          <a:p>
            <a:pPr marL="12700" marR="1026160">
              <a:lnSpc>
                <a:spcPct val="153800"/>
              </a:lnSpc>
              <a:spcBef>
                <a:spcPts val="225"/>
              </a:spcBef>
            </a:pPr>
            <a:r>
              <a:rPr lang="en-US" sz="2400" b="1" spc="60" dirty="0">
                <a:solidFill>
                  <a:srgbClr val="222222"/>
                </a:solidFill>
                <a:latin typeface="Tahoma"/>
                <a:cs typeface="Tahoma"/>
              </a:rPr>
              <a:t>COLLEGE: Chandigarh University Uttar Pradesh</a:t>
            </a:r>
            <a:endParaRPr lang="en-US" sz="2400" dirty="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129" y="1713507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0" y="0"/>
                </a:moveTo>
                <a:lnTo>
                  <a:pt x="190499" y="0"/>
                </a:lnTo>
                <a:lnTo>
                  <a:pt x="190499" y="991267"/>
                </a:lnTo>
                <a:lnTo>
                  <a:pt x="0" y="991267"/>
                </a:lnTo>
                <a:lnTo>
                  <a:pt x="0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89949" y="0"/>
            <a:ext cx="13829424" cy="10287000"/>
            <a:chOff x="4089949" y="0"/>
            <a:chExt cx="13829424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9949" y="0"/>
              <a:ext cx="10286999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34268" y="2194519"/>
              <a:ext cx="7007225" cy="0"/>
            </a:xfrm>
            <a:custGeom>
              <a:avLst/>
              <a:gdLst/>
              <a:ahLst/>
              <a:cxnLst/>
              <a:rect l="l" t="t" r="r" b="b"/>
              <a:pathLst>
                <a:path w="7007225">
                  <a:moveTo>
                    <a:pt x="0" y="0"/>
                  </a:moveTo>
                  <a:lnTo>
                    <a:pt x="7006603" y="0"/>
                  </a:lnTo>
                </a:path>
              </a:pathLst>
            </a:custGeom>
            <a:ln w="11429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3" y="2063156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4" y="262727"/>
                  </a:moveTo>
                  <a:lnTo>
                    <a:pt x="80232" y="252404"/>
                  </a:lnTo>
                  <a:lnTo>
                    <a:pt x="38476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6" y="38475"/>
                  </a:lnTo>
                  <a:lnTo>
                    <a:pt x="80232" y="10323"/>
                  </a:lnTo>
                  <a:lnTo>
                    <a:pt x="131364" y="0"/>
                  </a:lnTo>
                  <a:lnTo>
                    <a:pt x="182497" y="10323"/>
                  </a:lnTo>
                  <a:lnTo>
                    <a:pt x="224252" y="38475"/>
                  </a:lnTo>
                  <a:lnTo>
                    <a:pt x="252405" y="80231"/>
                  </a:lnTo>
                  <a:lnTo>
                    <a:pt x="262728" y="131363"/>
                  </a:lnTo>
                  <a:lnTo>
                    <a:pt x="252405" y="182496"/>
                  </a:lnTo>
                  <a:lnTo>
                    <a:pt x="224252" y="224252"/>
                  </a:lnTo>
                  <a:lnTo>
                    <a:pt x="182497" y="252404"/>
                  </a:lnTo>
                  <a:lnTo>
                    <a:pt x="131364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25" dirty="0"/>
              <a:t>PROBLEM</a:t>
            </a:r>
            <a:r>
              <a:rPr spc="-50" dirty="0"/>
              <a:t> </a:t>
            </a:r>
            <a:r>
              <a:rPr spc="135" dirty="0"/>
              <a:t>STATEMENT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57530" y="71388"/>
            <a:ext cx="17099280" cy="9902190"/>
            <a:chOff x="557530" y="71388"/>
            <a:chExt cx="17099280" cy="9902190"/>
          </a:xfrm>
        </p:grpSpPr>
        <p:sp>
          <p:nvSpPr>
            <p:cNvPr id="9" name="object 9"/>
            <p:cNvSpPr/>
            <p:nvPr/>
          </p:nvSpPr>
          <p:spPr>
            <a:xfrm>
              <a:off x="10855980" y="9846035"/>
              <a:ext cx="6800850" cy="127000"/>
            </a:xfrm>
            <a:custGeom>
              <a:avLst/>
              <a:gdLst/>
              <a:ahLst/>
              <a:cxnLst/>
              <a:rect l="l" t="t" r="r" b="b"/>
              <a:pathLst>
                <a:path w="6800850" h="127000">
                  <a:moveTo>
                    <a:pt x="0" y="0"/>
                  </a:moveTo>
                  <a:lnTo>
                    <a:pt x="6800500" y="0"/>
                  </a:lnTo>
                  <a:lnTo>
                    <a:pt x="6800500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7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7530" y="9846035"/>
              <a:ext cx="6633845" cy="127000"/>
            </a:xfrm>
            <a:custGeom>
              <a:avLst/>
              <a:gdLst/>
              <a:ahLst/>
              <a:cxnLst/>
              <a:rect l="l" t="t" r="r" b="b"/>
              <a:pathLst>
                <a:path w="6633845" h="127000">
                  <a:moveTo>
                    <a:pt x="0" y="0"/>
                  </a:moveTo>
                  <a:lnTo>
                    <a:pt x="6633806" y="0"/>
                  </a:lnTo>
                  <a:lnTo>
                    <a:pt x="6633806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3813" y="71388"/>
              <a:ext cx="2442693" cy="179577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7738" y="83378"/>
              <a:ext cx="1393752" cy="167250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278A414-F3EA-D476-2D26-6BBE3EE5CD84}"/>
              </a:ext>
            </a:extLst>
          </p:cNvPr>
          <p:cNvSpPr txBox="1"/>
          <p:nvPr/>
        </p:nvSpPr>
        <p:spPr>
          <a:xfrm>
            <a:off x="1211158" y="3408717"/>
            <a:ext cx="1321414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000" dirty="0"/>
              <a:t>• Students struggle to discover collaborators whose skills   complement not duplicate their own.</a:t>
            </a:r>
          </a:p>
          <a:p>
            <a:pPr algn="l"/>
            <a:r>
              <a:rPr lang="en-IN" sz="4000" dirty="0"/>
              <a:t>• Project creators spend time searching manually and still lack confidence in fit, availability and commitment.</a:t>
            </a:r>
          </a:p>
          <a:p>
            <a:pPr algn="l"/>
            <a:r>
              <a:rPr lang="en-IN" sz="4000" dirty="0"/>
              <a:t>• Mentors and opportunities are fragmented across WhatsApp, college groups, LinkedIn and word of mouth.</a:t>
            </a:r>
          </a:p>
          <a:p>
            <a:pPr algn="l"/>
            <a:r>
              <a:rPr lang="en-IN" sz="4000" dirty="0"/>
              <a:t>• </a:t>
            </a:r>
            <a:r>
              <a:rPr lang="en-IN" sz="4000" b="1" dirty="0"/>
              <a:t>Result: </a:t>
            </a:r>
            <a:r>
              <a:rPr lang="en-IN" sz="4000" dirty="0"/>
              <a:t>Slower team formation, unequal access to opportunities and abandoned ideas.</a:t>
            </a:r>
          </a:p>
        </p:txBody>
      </p:sp>
      <p:sp>
        <p:nvSpPr>
          <p:cNvPr id="18" name="object 20">
            <a:extLst>
              <a:ext uri="{FF2B5EF4-FFF2-40B4-BE49-F238E27FC236}">
                <a16:creationId xmlns:a16="http://schemas.microsoft.com/office/drawing/2014/main" id="{31920C36-F004-7052-BDC5-916D196365D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7294423" y="9723511"/>
            <a:ext cx="2567304" cy="31622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47129" y="1713507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0" y="0"/>
                </a:moveTo>
                <a:lnTo>
                  <a:pt x="190499" y="0"/>
                </a:lnTo>
                <a:lnTo>
                  <a:pt x="190499" y="991267"/>
                </a:lnTo>
                <a:lnTo>
                  <a:pt x="0" y="991267"/>
                </a:lnTo>
                <a:lnTo>
                  <a:pt x="0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SOLUTION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57530" y="223789"/>
            <a:ext cx="17362170" cy="9749790"/>
            <a:chOff x="557530" y="223789"/>
            <a:chExt cx="17362170" cy="9749790"/>
          </a:xfrm>
        </p:grpSpPr>
        <p:sp>
          <p:nvSpPr>
            <p:cNvPr id="5" name="object 5"/>
            <p:cNvSpPr/>
            <p:nvPr/>
          </p:nvSpPr>
          <p:spPr>
            <a:xfrm>
              <a:off x="5432592" y="2194520"/>
              <a:ext cx="12408535" cy="0"/>
            </a:xfrm>
            <a:custGeom>
              <a:avLst/>
              <a:gdLst/>
              <a:ahLst/>
              <a:cxnLst/>
              <a:rect l="l" t="t" r="r" b="b"/>
              <a:pathLst>
                <a:path w="12408535">
                  <a:moveTo>
                    <a:pt x="0" y="0"/>
                  </a:moveTo>
                  <a:lnTo>
                    <a:pt x="12408276" y="0"/>
                  </a:lnTo>
                </a:path>
              </a:pathLst>
            </a:custGeom>
            <a:ln w="11429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1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4" y="262727"/>
                  </a:moveTo>
                  <a:lnTo>
                    <a:pt x="80232" y="252404"/>
                  </a:lnTo>
                  <a:lnTo>
                    <a:pt x="38476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6" y="38475"/>
                  </a:lnTo>
                  <a:lnTo>
                    <a:pt x="80232" y="10323"/>
                  </a:lnTo>
                  <a:lnTo>
                    <a:pt x="131364" y="0"/>
                  </a:lnTo>
                  <a:lnTo>
                    <a:pt x="182497" y="10323"/>
                  </a:lnTo>
                  <a:lnTo>
                    <a:pt x="224252" y="38475"/>
                  </a:lnTo>
                  <a:lnTo>
                    <a:pt x="252405" y="80231"/>
                  </a:lnTo>
                  <a:lnTo>
                    <a:pt x="262728" y="131363"/>
                  </a:lnTo>
                  <a:lnTo>
                    <a:pt x="252405" y="182496"/>
                  </a:lnTo>
                  <a:lnTo>
                    <a:pt x="224252" y="224252"/>
                  </a:lnTo>
                  <a:lnTo>
                    <a:pt x="182497" y="252404"/>
                  </a:lnTo>
                  <a:lnTo>
                    <a:pt x="131364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846035"/>
              <a:ext cx="6800850" cy="127000"/>
            </a:xfrm>
            <a:custGeom>
              <a:avLst/>
              <a:gdLst/>
              <a:ahLst/>
              <a:cxnLst/>
              <a:rect l="l" t="t" r="r" b="b"/>
              <a:pathLst>
                <a:path w="6800850" h="127000">
                  <a:moveTo>
                    <a:pt x="0" y="0"/>
                  </a:moveTo>
                  <a:lnTo>
                    <a:pt x="6800500" y="0"/>
                  </a:lnTo>
                  <a:lnTo>
                    <a:pt x="6800500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7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530" y="9846035"/>
              <a:ext cx="6633845" cy="127000"/>
            </a:xfrm>
            <a:custGeom>
              <a:avLst/>
              <a:gdLst/>
              <a:ahLst/>
              <a:cxnLst/>
              <a:rect l="l" t="t" r="r" b="b"/>
              <a:pathLst>
                <a:path w="6633845" h="127000">
                  <a:moveTo>
                    <a:pt x="0" y="0"/>
                  </a:moveTo>
                  <a:lnTo>
                    <a:pt x="6633806" y="0"/>
                  </a:lnTo>
                  <a:lnTo>
                    <a:pt x="6633806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6213" y="223789"/>
              <a:ext cx="2442693" cy="179577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10138" y="235778"/>
              <a:ext cx="1393752" cy="1672504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  <p:sp>
        <p:nvSpPr>
          <p:cNvPr id="13" name="Google Shape;141;p3">
            <a:extLst>
              <a:ext uri="{FF2B5EF4-FFF2-40B4-BE49-F238E27FC236}">
                <a16:creationId xmlns:a16="http://schemas.microsoft.com/office/drawing/2014/main" id="{83487E5D-5B6D-B955-E0BC-69E4C2895FDC}"/>
              </a:ext>
            </a:extLst>
          </p:cNvPr>
          <p:cNvSpPr>
            <a:spLocks noGrp="1"/>
          </p:cNvSpPr>
          <p:nvPr/>
        </p:nvSpPr>
        <p:spPr>
          <a:xfrm>
            <a:off x="834817" y="1703982"/>
            <a:ext cx="4597777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46;p3">
            <a:extLst>
              <a:ext uri="{FF2B5EF4-FFF2-40B4-BE49-F238E27FC236}">
                <a16:creationId xmlns:a16="http://schemas.microsoft.com/office/drawing/2014/main" id="{157873C3-A510-E1E7-999F-6C4D1C1D36D1}"/>
              </a:ext>
            </a:extLst>
          </p:cNvPr>
          <p:cNvSpPr>
            <a:spLocks noGrp="1"/>
          </p:cNvSpPr>
          <p:nvPr/>
        </p:nvSpPr>
        <p:spPr>
          <a:xfrm>
            <a:off x="17656482" y="2063156"/>
            <a:ext cx="262728" cy="2627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47;p3">
            <a:extLst>
              <a:ext uri="{FF2B5EF4-FFF2-40B4-BE49-F238E27FC236}">
                <a16:creationId xmlns:a16="http://schemas.microsoft.com/office/drawing/2014/main" id="{B8291AE8-F06F-4246-ADC6-2F892AA3DD0D}"/>
              </a:ext>
            </a:extLst>
          </p:cNvPr>
          <p:cNvSpPr>
            <a:spLocks noGrp="1"/>
          </p:cNvSpPr>
          <p:nvPr/>
        </p:nvSpPr>
        <p:spPr>
          <a:xfrm>
            <a:off x="17681112" y="2075471"/>
            <a:ext cx="213466" cy="2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152;p3">
            <a:extLst>
              <a:ext uri="{FF2B5EF4-FFF2-40B4-BE49-F238E27FC236}">
                <a16:creationId xmlns:a16="http://schemas.microsoft.com/office/drawing/2014/main" id="{3272AAC0-ED14-DB88-9AA3-7767F2F4537F}"/>
              </a:ext>
            </a:extLst>
          </p:cNvPr>
          <p:cNvSpPr>
            <a:spLocks noGrp="1"/>
          </p:cNvSpPr>
          <p:nvPr/>
        </p:nvSpPr>
        <p:spPr>
          <a:xfrm>
            <a:off x="7191336" y="9566731"/>
            <a:ext cx="3647249" cy="54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Rounded Rectangle 157">
            <a:extLst>
              <a:ext uri="{FF2B5EF4-FFF2-40B4-BE49-F238E27FC236}">
                <a16:creationId xmlns:a16="http://schemas.microsoft.com/office/drawing/2014/main" id="{EB353534-C0BE-9FE9-6085-5E107F5E8E24}"/>
              </a:ext>
            </a:extLst>
          </p:cNvPr>
          <p:cNvSpPr>
            <a:spLocks noGrp="1"/>
          </p:cNvSpPr>
          <p:nvPr/>
        </p:nvSpPr>
        <p:spPr>
          <a:xfrm>
            <a:off x="1524000" y="3095625"/>
            <a:ext cx="14763750" cy="714375"/>
          </a:xfrm>
          <a:prstGeom prst="roundRect">
            <a:avLst>
              <a:gd name="adj" fmla="val 10667"/>
            </a:avLst>
          </a:prstGeom>
          <a:noFill/>
          <a:ln w="0">
            <a:noFill/>
          </a:ln>
        </p:spPr>
        <p:txBody>
          <a:bodyPr>
            <a:normAutofit fontScale="92500"/>
          </a:bodyPr>
          <a:lstStyle/>
          <a:p>
            <a:pPr>
              <a:defRPr sz="2100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lang="en-IN" sz="2500" b="1" dirty="0" err="1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SkillBridge</a:t>
            </a:r>
            <a:r>
              <a:rPr lang="en-IN" sz="2500" b="1" dirty="0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2100" b="1" dirty="0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A campus platform that translates skills, interests and project needs into clear recommendations.</a:t>
            </a:r>
          </a:p>
        </p:txBody>
      </p:sp>
      <p:sp>
        <p:nvSpPr>
          <p:cNvPr id="27" name="Rounded Rectangle 158">
            <a:extLst>
              <a:ext uri="{FF2B5EF4-FFF2-40B4-BE49-F238E27FC236}">
                <a16:creationId xmlns:a16="http://schemas.microsoft.com/office/drawing/2014/main" id="{D00E7626-77F7-8BBE-495B-8582D0024D5B}"/>
              </a:ext>
            </a:extLst>
          </p:cNvPr>
          <p:cNvSpPr>
            <a:spLocks noGrp="1"/>
          </p:cNvSpPr>
          <p:nvPr/>
        </p:nvSpPr>
        <p:spPr>
          <a:xfrm>
            <a:off x="1524000" y="457200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1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Create a profile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Skills, interests, availability and portfolio links</a:t>
            </a:r>
          </a:p>
        </p:txBody>
      </p:sp>
      <p:sp>
        <p:nvSpPr>
          <p:cNvPr id="28" name="Rounded Rectangle 159">
            <a:extLst>
              <a:ext uri="{FF2B5EF4-FFF2-40B4-BE49-F238E27FC236}">
                <a16:creationId xmlns:a16="http://schemas.microsoft.com/office/drawing/2014/main" id="{E1E96460-B3AE-399E-C7E3-F55FC2E0BE34}"/>
              </a:ext>
            </a:extLst>
          </p:cNvPr>
          <p:cNvSpPr>
            <a:spLocks noGrp="1"/>
          </p:cNvSpPr>
          <p:nvPr/>
        </p:nvSpPr>
        <p:spPr>
          <a:xfrm>
            <a:off x="5429250" y="457200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2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Post or discover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Projects with roles, domain and timeline</a:t>
            </a:r>
          </a:p>
        </p:txBody>
      </p:sp>
      <p:sp>
        <p:nvSpPr>
          <p:cNvPr id="29" name="Rounded Rectangle 160">
            <a:extLst>
              <a:ext uri="{FF2B5EF4-FFF2-40B4-BE49-F238E27FC236}">
                <a16:creationId xmlns:a16="http://schemas.microsoft.com/office/drawing/2014/main" id="{1B19D209-1AFF-363A-39F3-74C844FE6C92}"/>
              </a:ext>
            </a:extLst>
          </p:cNvPr>
          <p:cNvSpPr>
            <a:spLocks noGrp="1"/>
          </p:cNvSpPr>
          <p:nvPr/>
        </p:nvSpPr>
        <p:spPr>
          <a:xfrm>
            <a:off x="9334500" y="457200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3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Get explainable matches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See fit, gaps and match reasons</a:t>
            </a:r>
          </a:p>
        </p:txBody>
      </p:sp>
      <p:sp>
        <p:nvSpPr>
          <p:cNvPr id="30" name="Rounded Rectangle 161">
            <a:extLst>
              <a:ext uri="{FF2B5EF4-FFF2-40B4-BE49-F238E27FC236}">
                <a16:creationId xmlns:a16="http://schemas.microsoft.com/office/drawing/2014/main" id="{71E875D3-F90D-D6BC-E115-503015ABB426}"/>
              </a:ext>
            </a:extLst>
          </p:cNvPr>
          <p:cNvSpPr>
            <a:spLocks noGrp="1"/>
          </p:cNvSpPr>
          <p:nvPr/>
        </p:nvSpPr>
        <p:spPr>
          <a:xfrm>
            <a:off x="13239750" y="457200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4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Build the team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Invite candidates and track missing roles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47129" y="1713507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0" y="0"/>
                </a:moveTo>
                <a:lnTo>
                  <a:pt x="190499" y="0"/>
                </a:lnTo>
                <a:lnTo>
                  <a:pt x="190499" y="991267"/>
                </a:lnTo>
                <a:lnTo>
                  <a:pt x="0" y="991267"/>
                </a:lnTo>
                <a:lnTo>
                  <a:pt x="0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95" dirty="0"/>
              <a:t>FLOW</a:t>
            </a:r>
            <a:r>
              <a:rPr spc="-65" dirty="0"/>
              <a:t> </a:t>
            </a:r>
            <a:r>
              <a:rPr spc="385" dirty="0"/>
              <a:t>OF</a:t>
            </a:r>
            <a:r>
              <a:rPr spc="-65" dirty="0"/>
              <a:t> </a:t>
            </a:r>
            <a:r>
              <a:rPr spc="40" dirty="0"/>
              <a:t>SOLUTION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902190"/>
            <a:chOff x="557530" y="71388"/>
            <a:chExt cx="17362170" cy="9902190"/>
          </a:xfrm>
        </p:grpSpPr>
        <p:sp>
          <p:nvSpPr>
            <p:cNvPr id="5" name="object 5"/>
            <p:cNvSpPr/>
            <p:nvPr/>
          </p:nvSpPr>
          <p:spPr>
            <a:xfrm>
              <a:off x="9725874" y="2194520"/>
              <a:ext cx="8193405" cy="0"/>
            </a:xfrm>
            <a:custGeom>
              <a:avLst/>
              <a:gdLst/>
              <a:ahLst/>
              <a:cxnLst/>
              <a:rect l="l" t="t" r="r" b="b"/>
              <a:pathLst>
                <a:path w="8193405">
                  <a:moveTo>
                    <a:pt x="0" y="0"/>
                  </a:moveTo>
                  <a:lnTo>
                    <a:pt x="8193335" y="0"/>
                  </a:lnTo>
                </a:path>
              </a:pathLst>
            </a:custGeom>
            <a:ln w="11429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1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1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1" y="10323"/>
                  </a:lnTo>
                  <a:lnTo>
                    <a:pt x="131363" y="0"/>
                  </a:lnTo>
                  <a:lnTo>
                    <a:pt x="182497" y="10323"/>
                  </a:lnTo>
                  <a:lnTo>
                    <a:pt x="224253" y="38475"/>
                  </a:lnTo>
                  <a:lnTo>
                    <a:pt x="252405" y="80231"/>
                  </a:lnTo>
                  <a:lnTo>
                    <a:pt x="262728" y="131363"/>
                  </a:lnTo>
                  <a:lnTo>
                    <a:pt x="252405" y="182496"/>
                  </a:lnTo>
                  <a:lnTo>
                    <a:pt x="224253" y="224252"/>
                  </a:lnTo>
                  <a:lnTo>
                    <a:pt x="182497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846035"/>
              <a:ext cx="6800850" cy="127000"/>
            </a:xfrm>
            <a:custGeom>
              <a:avLst/>
              <a:gdLst/>
              <a:ahLst/>
              <a:cxnLst/>
              <a:rect l="l" t="t" r="r" b="b"/>
              <a:pathLst>
                <a:path w="6800850" h="127000">
                  <a:moveTo>
                    <a:pt x="0" y="0"/>
                  </a:moveTo>
                  <a:lnTo>
                    <a:pt x="6800500" y="0"/>
                  </a:lnTo>
                  <a:lnTo>
                    <a:pt x="6800500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7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530" y="9846035"/>
              <a:ext cx="6633845" cy="127000"/>
            </a:xfrm>
            <a:custGeom>
              <a:avLst/>
              <a:gdLst/>
              <a:ahLst/>
              <a:cxnLst/>
              <a:rect l="l" t="t" r="r" b="b"/>
              <a:pathLst>
                <a:path w="6633845" h="127000">
                  <a:moveTo>
                    <a:pt x="0" y="0"/>
                  </a:moveTo>
                  <a:lnTo>
                    <a:pt x="6633806" y="0"/>
                  </a:lnTo>
                  <a:lnTo>
                    <a:pt x="6633806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3813" y="71388"/>
              <a:ext cx="2442693" cy="179577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7738" y="83378"/>
              <a:ext cx="1393752" cy="1672504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  <p:sp>
        <p:nvSpPr>
          <p:cNvPr id="15" name="Google Shape;162;p4">
            <a:extLst>
              <a:ext uri="{FF2B5EF4-FFF2-40B4-BE49-F238E27FC236}">
                <a16:creationId xmlns:a16="http://schemas.microsoft.com/office/drawing/2014/main" id="{661ECBA2-61BD-6743-4F98-C8EC3FD50351}"/>
              </a:ext>
            </a:extLst>
          </p:cNvPr>
          <p:cNvSpPr>
            <a:spLocks noGrp="1"/>
          </p:cNvSpPr>
          <p:nvPr/>
        </p:nvSpPr>
        <p:spPr>
          <a:xfrm>
            <a:off x="834817" y="1703982"/>
            <a:ext cx="8891057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67;p4">
            <a:extLst>
              <a:ext uri="{FF2B5EF4-FFF2-40B4-BE49-F238E27FC236}">
                <a16:creationId xmlns:a16="http://schemas.microsoft.com/office/drawing/2014/main" id="{2A2E5B02-5EC8-58C2-3EB1-E406633CC5B1}"/>
              </a:ext>
            </a:extLst>
          </p:cNvPr>
          <p:cNvSpPr>
            <a:spLocks noGrp="1"/>
          </p:cNvSpPr>
          <p:nvPr/>
        </p:nvSpPr>
        <p:spPr>
          <a:xfrm>
            <a:off x="17656482" y="2063156"/>
            <a:ext cx="262728" cy="2627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68;p4">
            <a:extLst>
              <a:ext uri="{FF2B5EF4-FFF2-40B4-BE49-F238E27FC236}">
                <a16:creationId xmlns:a16="http://schemas.microsoft.com/office/drawing/2014/main" id="{500FCD2C-DC7E-B6D8-53B0-94C0377B77A2}"/>
              </a:ext>
            </a:extLst>
          </p:cNvPr>
          <p:cNvSpPr>
            <a:spLocks noGrp="1"/>
          </p:cNvSpPr>
          <p:nvPr/>
        </p:nvSpPr>
        <p:spPr>
          <a:xfrm>
            <a:off x="17681112" y="2075471"/>
            <a:ext cx="213466" cy="2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Google Shape;173;p4">
            <a:extLst>
              <a:ext uri="{FF2B5EF4-FFF2-40B4-BE49-F238E27FC236}">
                <a16:creationId xmlns:a16="http://schemas.microsoft.com/office/drawing/2014/main" id="{DB62E3B0-55B3-2387-0944-5AA5D4B0A51D}"/>
              </a:ext>
            </a:extLst>
          </p:cNvPr>
          <p:cNvSpPr>
            <a:spLocks noGrp="1"/>
          </p:cNvSpPr>
          <p:nvPr/>
        </p:nvSpPr>
        <p:spPr>
          <a:xfrm>
            <a:off x="7191336" y="9566731"/>
            <a:ext cx="3647249" cy="54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Rounded Rectangle 177">
            <a:extLst>
              <a:ext uri="{FF2B5EF4-FFF2-40B4-BE49-F238E27FC236}">
                <a16:creationId xmlns:a16="http://schemas.microsoft.com/office/drawing/2014/main" id="{0DA6C92D-2627-0452-83D0-0FD5FF0606D1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5716250" cy="11430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endParaRPr sz="4200" b="1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8" name="Rounded Rectangle 178">
            <a:extLst>
              <a:ext uri="{FF2B5EF4-FFF2-40B4-BE49-F238E27FC236}">
                <a16:creationId xmlns:a16="http://schemas.microsoft.com/office/drawing/2014/main" id="{4AC58118-2123-A176-1E20-DD02245674F6}"/>
              </a:ext>
            </a:extLst>
          </p:cNvPr>
          <p:cNvSpPr>
            <a:spLocks noGrp="1"/>
          </p:cNvSpPr>
          <p:nvPr/>
        </p:nvSpPr>
        <p:spPr>
          <a:xfrm>
            <a:off x="1095375" y="4762500"/>
            <a:ext cx="2619375" cy="1619250"/>
          </a:xfrm>
          <a:prstGeom prst="roundRect">
            <a:avLst>
              <a:gd name="adj" fmla="val 4706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Student profile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skills, interests, availability</a:t>
            </a:r>
          </a:p>
        </p:txBody>
      </p:sp>
      <p:sp>
        <p:nvSpPr>
          <p:cNvPr id="29" name="Rounded Rectangle 179">
            <a:extLst>
              <a:ext uri="{FF2B5EF4-FFF2-40B4-BE49-F238E27FC236}">
                <a16:creationId xmlns:a16="http://schemas.microsoft.com/office/drawing/2014/main" id="{B7F6586B-7DD0-4A07-43C3-0719527BB7E4}"/>
              </a:ext>
            </a:extLst>
          </p:cNvPr>
          <p:cNvSpPr>
            <a:spLocks noGrp="1"/>
          </p:cNvSpPr>
          <p:nvPr/>
        </p:nvSpPr>
        <p:spPr>
          <a:xfrm>
            <a:off x="3762375" y="5191125"/>
            <a:ext cx="523875" cy="666750"/>
          </a:xfrm>
          <a:prstGeom prst="roundRect">
            <a:avLst>
              <a:gd name="adj" fmla="val 14545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rPr>
              <a:t>›</a:t>
            </a:r>
          </a:p>
        </p:txBody>
      </p:sp>
      <p:sp>
        <p:nvSpPr>
          <p:cNvPr id="30" name="Rounded Rectangle 180">
            <a:extLst>
              <a:ext uri="{FF2B5EF4-FFF2-40B4-BE49-F238E27FC236}">
                <a16:creationId xmlns:a16="http://schemas.microsoft.com/office/drawing/2014/main" id="{B67F404C-A226-5585-FA75-B3E0DFCDEE37}"/>
              </a:ext>
            </a:extLst>
          </p:cNvPr>
          <p:cNvSpPr>
            <a:spLocks noGrp="1"/>
          </p:cNvSpPr>
          <p:nvPr/>
        </p:nvSpPr>
        <p:spPr>
          <a:xfrm>
            <a:off x="4429125" y="4762500"/>
            <a:ext cx="2619375" cy="1619250"/>
          </a:xfrm>
          <a:prstGeom prst="roundRect">
            <a:avLst>
              <a:gd name="adj" fmla="val 4706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Project brief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roles, requirements, timeline</a:t>
            </a:r>
          </a:p>
        </p:txBody>
      </p:sp>
      <p:sp>
        <p:nvSpPr>
          <p:cNvPr id="31" name="Rounded Rectangle 181">
            <a:extLst>
              <a:ext uri="{FF2B5EF4-FFF2-40B4-BE49-F238E27FC236}">
                <a16:creationId xmlns:a16="http://schemas.microsoft.com/office/drawing/2014/main" id="{C2B29328-F179-DA68-CD12-A5A23071A54B}"/>
              </a:ext>
            </a:extLst>
          </p:cNvPr>
          <p:cNvSpPr>
            <a:spLocks noGrp="1"/>
          </p:cNvSpPr>
          <p:nvPr/>
        </p:nvSpPr>
        <p:spPr>
          <a:xfrm>
            <a:off x="7096125" y="5191125"/>
            <a:ext cx="523875" cy="666750"/>
          </a:xfrm>
          <a:prstGeom prst="roundRect">
            <a:avLst>
              <a:gd name="adj" fmla="val 14545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rPr>
              <a:t>›</a:t>
            </a:r>
          </a:p>
        </p:txBody>
      </p:sp>
      <p:sp>
        <p:nvSpPr>
          <p:cNvPr id="32" name="Rounded Rectangle 182">
            <a:extLst>
              <a:ext uri="{FF2B5EF4-FFF2-40B4-BE49-F238E27FC236}">
                <a16:creationId xmlns:a16="http://schemas.microsoft.com/office/drawing/2014/main" id="{8694A4BF-42AD-A492-82FF-A5C5E315E2C2}"/>
              </a:ext>
            </a:extLst>
          </p:cNvPr>
          <p:cNvSpPr>
            <a:spLocks noGrp="1"/>
          </p:cNvSpPr>
          <p:nvPr/>
        </p:nvSpPr>
        <p:spPr>
          <a:xfrm>
            <a:off x="7762875" y="4762500"/>
            <a:ext cx="2619375" cy="1619250"/>
          </a:xfrm>
          <a:prstGeom prst="roundRect">
            <a:avLst>
              <a:gd name="adj" fmla="val 4706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Skill normalizer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taxonomy and related skills</a:t>
            </a:r>
          </a:p>
        </p:txBody>
      </p:sp>
      <p:sp>
        <p:nvSpPr>
          <p:cNvPr id="33" name="Rounded Rectangle 183">
            <a:extLst>
              <a:ext uri="{FF2B5EF4-FFF2-40B4-BE49-F238E27FC236}">
                <a16:creationId xmlns:a16="http://schemas.microsoft.com/office/drawing/2014/main" id="{43E03E96-9F6A-5897-08C5-EEA12178B590}"/>
              </a:ext>
            </a:extLst>
          </p:cNvPr>
          <p:cNvSpPr>
            <a:spLocks noGrp="1"/>
          </p:cNvSpPr>
          <p:nvPr/>
        </p:nvSpPr>
        <p:spPr>
          <a:xfrm>
            <a:off x="10429875" y="5191125"/>
            <a:ext cx="523875" cy="666750"/>
          </a:xfrm>
          <a:prstGeom prst="roundRect">
            <a:avLst>
              <a:gd name="adj" fmla="val 14545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rPr>
              <a:t>›</a:t>
            </a:r>
          </a:p>
        </p:txBody>
      </p:sp>
      <p:sp>
        <p:nvSpPr>
          <p:cNvPr id="34" name="Rounded Rectangle 184">
            <a:extLst>
              <a:ext uri="{FF2B5EF4-FFF2-40B4-BE49-F238E27FC236}">
                <a16:creationId xmlns:a16="http://schemas.microsoft.com/office/drawing/2014/main" id="{ED5AE33E-92A5-D2F5-23C0-C75A7D32B942}"/>
              </a:ext>
            </a:extLst>
          </p:cNvPr>
          <p:cNvSpPr>
            <a:spLocks noGrp="1"/>
          </p:cNvSpPr>
          <p:nvPr/>
        </p:nvSpPr>
        <p:spPr>
          <a:xfrm>
            <a:off x="11096625" y="4762500"/>
            <a:ext cx="2619375" cy="1619250"/>
          </a:xfrm>
          <a:prstGeom prst="roundRect">
            <a:avLst>
              <a:gd name="adj" fmla="val 4706"/>
            </a:avLst>
          </a:prstGeom>
          <a:solidFill>
            <a:srgbClr val="FBE3D4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Match ranking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weighted fit and team gaps</a:t>
            </a:r>
          </a:p>
        </p:txBody>
      </p:sp>
      <p:sp>
        <p:nvSpPr>
          <p:cNvPr id="35" name="Rounded Rectangle 185">
            <a:extLst>
              <a:ext uri="{FF2B5EF4-FFF2-40B4-BE49-F238E27FC236}">
                <a16:creationId xmlns:a16="http://schemas.microsoft.com/office/drawing/2014/main" id="{F40F3828-BA77-25CF-D7B0-7F472E185209}"/>
              </a:ext>
            </a:extLst>
          </p:cNvPr>
          <p:cNvSpPr>
            <a:spLocks noGrp="1"/>
          </p:cNvSpPr>
          <p:nvPr/>
        </p:nvSpPr>
        <p:spPr>
          <a:xfrm>
            <a:off x="13763625" y="5191125"/>
            <a:ext cx="523875" cy="666750"/>
          </a:xfrm>
          <a:prstGeom prst="roundRect">
            <a:avLst>
              <a:gd name="adj" fmla="val 14545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rPr>
              <a:t>›</a:t>
            </a:r>
          </a:p>
        </p:txBody>
      </p:sp>
      <p:sp>
        <p:nvSpPr>
          <p:cNvPr id="36" name="Rounded Rectangle 186">
            <a:extLst>
              <a:ext uri="{FF2B5EF4-FFF2-40B4-BE49-F238E27FC236}">
                <a16:creationId xmlns:a16="http://schemas.microsoft.com/office/drawing/2014/main" id="{4781E5F4-A8F0-DB6A-2FB1-85CDA35B7E2C}"/>
              </a:ext>
            </a:extLst>
          </p:cNvPr>
          <p:cNvSpPr>
            <a:spLocks noGrp="1"/>
          </p:cNvSpPr>
          <p:nvPr/>
        </p:nvSpPr>
        <p:spPr>
          <a:xfrm>
            <a:off x="14430375" y="4762500"/>
            <a:ext cx="2619375" cy="1619250"/>
          </a:xfrm>
          <a:prstGeom prst="roundRect">
            <a:avLst>
              <a:gd name="adj" fmla="val 4706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Team action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invite, accept, build</a:t>
            </a:r>
          </a:p>
        </p:txBody>
      </p:sp>
      <p:sp>
        <p:nvSpPr>
          <p:cNvPr id="37" name="Rounded Rectangle 187">
            <a:extLst>
              <a:ext uri="{FF2B5EF4-FFF2-40B4-BE49-F238E27FC236}">
                <a16:creationId xmlns:a16="http://schemas.microsoft.com/office/drawing/2014/main" id="{4A0F226E-87AE-87E0-0B67-FA1AADCEFF5F}"/>
              </a:ext>
            </a:extLst>
          </p:cNvPr>
          <p:cNvSpPr>
            <a:spLocks noGrp="1"/>
          </p:cNvSpPr>
          <p:nvPr/>
        </p:nvSpPr>
        <p:spPr>
          <a:xfrm>
            <a:off x="1714500" y="7381874"/>
            <a:ext cx="14859000" cy="952499"/>
          </a:xfrm>
          <a:prstGeom prst="roundRect">
            <a:avLst>
              <a:gd name="adj" fmla="val 11429"/>
            </a:avLst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>
              <a:defRPr sz="1725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2800" b="1" dirty="0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Explainability: every recommendation lists the skills, interests and availability factors behind the score</a:t>
            </a:r>
            <a:r>
              <a:rPr sz="1725" b="1" dirty="0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47129" y="1713507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0" y="0"/>
                </a:moveTo>
                <a:lnTo>
                  <a:pt x="190499" y="0"/>
                </a:lnTo>
                <a:lnTo>
                  <a:pt x="190499" y="991267"/>
                </a:lnTo>
                <a:lnTo>
                  <a:pt x="0" y="991267"/>
                </a:lnTo>
                <a:lnTo>
                  <a:pt x="0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0" dirty="0"/>
              <a:t>TECH</a:t>
            </a:r>
            <a:r>
              <a:rPr spc="-55" dirty="0"/>
              <a:t> </a:t>
            </a:r>
            <a:r>
              <a:rPr spc="125" dirty="0"/>
              <a:t>STACK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1841" cy="9901647"/>
            <a:chOff x="557530" y="71388"/>
            <a:chExt cx="17361841" cy="9901647"/>
          </a:xfrm>
        </p:grpSpPr>
        <p:sp>
          <p:nvSpPr>
            <p:cNvPr id="5" name="object 5"/>
            <p:cNvSpPr/>
            <p:nvPr/>
          </p:nvSpPr>
          <p:spPr>
            <a:xfrm>
              <a:off x="6485126" y="2194520"/>
              <a:ext cx="11356340" cy="0"/>
            </a:xfrm>
            <a:custGeom>
              <a:avLst/>
              <a:gdLst/>
              <a:ahLst/>
              <a:cxnLst/>
              <a:rect l="l" t="t" r="r" b="b"/>
              <a:pathLst>
                <a:path w="11356340">
                  <a:moveTo>
                    <a:pt x="0" y="0"/>
                  </a:moveTo>
                  <a:lnTo>
                    <a:pt x="11355743" y="0"/>
                  </a:lnTo>
                </a:path>
              </a:pathLst>
            </a:custGeom>
            <a:ln w="11429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1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1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1" y="10323"/>
                  </a:lnTo>
                  <a:lnTo>
                    <a:pt x="131363" y="0"/>
                  </a:lnTo>
                  <a:lnTo>
                    <a:pt x="182497" y="10323"/>
                  </a:lnTo>
                  <a:lnTo>
                    <a:pt x="224253" y="38475"/>
                  </a:lnTo>
                  <a:lnTo>
                    <a:pt x="252405" y="80231"/>
                  </a:lnTo>
                  <a:lnTo>
                    <a:pt x="262728" y="131363"/>
                  </a:lnTo>
                  <a:lnTo>
                    <a:pt x="252405" y="182496"/>
                  </a:lnTo>
                  <a:lnTo>
                    <a:pt x="224253" y="224252"/>
                  </a:lnTo>
                  <a:lnTo>
                    <a:pt x="182497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846035"/>
              <a:ext cx="6800850" cy="127000"/>
            </a:xfrm>
            <a:custGeom>
              <a:avLst/>
              <a:gdLst/>
              <a:ahLst/>
              <a:cxnLst/>
              <a:rect l="l" t="t" r="r" b="b"/>
              <a:pathLst>
                <a:path w="6800850" h="127000">
                  <a:moveTo>
                    <a:pt x="0" y="0"/>
                  </a:moveTo>
                  <a:lnTo>
                    <a:pt x="6800500" y="0"/>
                  </a:lnTo>
                  <a:lnTo>
                    <a:pt x="6800500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7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530" y="9846035"/>
              <a:ext cx="6633845" cy="127000"/>
            </a:xfrm>
            <a:custGeom>
              <a:avLst/>
              <a:gdLst/>
              <a:ahLst/>
              <a:cxnLst/>
              <a:rect l="l" t="t" r="r" b="b"/>
              <a:pathLst>
                <a:path w="6633845" h="127000">
                  <a:moveTo>
                    <a:pt x="0" y="0"/>
                  </a:moveTo>
                  <a:lnTo>
                    <a:pt x="6633806" y="0"/>
                  </a:lnTo>
                  <a:lnTo>
                    <a:pt x="6633806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3813" y="71388"/>
              <a:ext cx="2442693" cy="179577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7738" y="83378"/>
              <a:ext cx="1393752" cy="1672504"/>
            </a:xfrm>
            <a:prstGeom prst="rect">
              <a:avLst/>
            </a:prstGeom>
          </p:spPr>
        </p:pic>
      </p:grpSp>
      <p:sp>
        <p:nvSpPr>
          <p:cNvPr id="13" name="Google Shape;183;p5">
            <a:extLst>
              <a:ext uri="{FF2B5EF4-FFF2-40B4-BE49-F238E27FC236}">
                <a16:creationId xmlns:a16="http://schemas.microsoft.com/office/drawing/2014/main" id="{5CC7F0E9-6547-C37A-CDE2-A2B7A5507B87}"/>
              </a:ext>
            </a:extLst>
          </p:cNvPr>
          <p:cNvSpPr>
            <a:spLocks noGrp="1"/>
          </p:cNvSpPr>
          <p:nvPr/>
        </p:nvSpPr>
        <p:spPr>
          <a:xfrm>
            <a:off x="834817" y="1703982"/>
            <a:ext cx="5650309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88;p5">
            <a:extLst>
              <a:ext uri="{FF2B5EF4-FFF2-40B4-BE49-F238E27FC236}">
                <a16:creationId xmlns:a16="http://schemas.microsoft.com/office/drawing/2014/main" id="{57CD2E1E-3582-6C1E-6E4B-B7AE0E3D9D61}"/>
              </a:ext>
            </a:extLst>
          </p:cNvPr>
          <p:cNvSpPr>
            <a:spLocks noGrp="1"/>
          </p:cNvSpPr>
          <p:nvPr/>
        </p:nvSpPr>
        <p:spPr>
          <a:xfrm>
            <a:off x="17656482" y="2063156"/>
            <a:ext cx="262727" cy="2627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89;p5">
            <a:extLst>
              <a:ext uri="{FF2B5EF4-FFF2-40B4-BE49-F238E27FC236}">
                <a16:creationId xmlns:a16="http://schemas.microsoft.com/office/drawing/2014/main" id="{849D16B8-7DBA-4269-1574-14843B3597A4}"/>
              </a:ext>
            </a:extLst>
          </p:cNvPr>
          <p:cNvSpPr>
            <a:spLocks noGrp="1"/>
          </p:cNvSpPr>
          <p:nvPr/>
        </p:nvSpPr>
        <p:spPr>
          <a:xfrm>
            <a:off x="17681112" y="2075471"/>
            <a:ext cx="213466" cy="2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8" name="Google Shape;191;p5">
            <a:extLst>
              <a:ext uri="{FF2B5EF4-FFF2-40B4-BE49-F238E27FC236}">
                <a16:creationId xmlns:a16="http://schemas.microsoft.com/office/drawing/2014/main" id="{D555A1C4-CE86-7E61-0459-E32C2389E810}"/>
              </a:ext>
            </a:extLst>
          </p:cNvPr>
          <p:cNvCxnSpPr/>
          <p:nvPr/>
        </p:nvCxnSpPr>
        <p:spPr>
          <a:xfrm>
            <a:off x="10855980" y="9909534"/>
            <a:ext cx="6800501" cy="0"/>
          </a:xfrm>
          <a:prstGeom prst="straightConnector1">
            <a:avLst/>
          </a:prstGeom>
          <a:ln w="127000" cap="flat">
            <a:solidFill>
              <a:srgbClr val="15762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196;p5">
            <a:extLst>
              <a:ext uri="{FF2B5EF4-FFF2-40B4-BE49-F238E27FC236}">
                <a16:creationId xmlns:a16="http://schemas.microsoft.com/office/drawing/2014/main" id="{688F7E63-08FE-EDBC-719D-0017202B4C23}"/>
              </a:ext>
            </a:extLst>
          </p:cNvPr>
          <p:cNvCxnSpPr/>
          <p:nvPr/>
        </p:nvCxnSpPr>
        <p:spPr>
          <a:xfrm>
            <a:off x="557530" y="9909534"/>
            <a:ext cx="6633806" cy="0"/>
          </a:xfrm>
          <a:prstGeom prst="straightConnector1">
            <a:avLst/>
          </a:prstGeom>
          <a:ln w="1270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Rounded Rectangle 198">
            <a:extLst>
              <a:ext uri="{FF2B5EF4-FFF2-40B4-BE49-F238E27FC236}">
                <a16:creationId xmlns:a16="http://schemas.microsoft.com/office/drawing/2014/main" id="{1B6C7794-2948-65FD-BDA9-147F9B49D7F0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5716250" cy="11430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endParaRPr sz="4200" b="1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6" name="Rounded Rectangle 199">
            <a:extLst>
              <a:ext uri="{FF2B5EF4-FFF2-40B4-BE49-F238E27FC236}">
                <a16:creationId xmlns:a16="http://schemas.microsoft.com/office/drawing/2014/main" id="{102CB4A0-1E10-0AF9-F0DC-396028D93D1D}"/>
              </a:ext>
            </a:extLst>
          </p:cNvPr>
          <p:cNvSpPr>
            <a:spLocks noGrp="1"/>
          </p:cNvSpPr>
          <p:nvPr/>
        </p:nvSpPr>
        <p:spPr>
          <a:xfrm>
            <a:off x="1238250" y="4095750"/>
            <a:ext cx="2762250" cy="2286000"/>
          </a:xfrm>
          <a:prstGeom prst="roundRect">
            <a:avLst>
              <a:gd name="adj" fmla="val 3333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Web app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React / Next.js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Responsive interface</a:t>
            </a:r>
          </a:p>
        </p:txBody>
      </p:sp>
      <p:sp>
        <p:nvSpPr>
          <p:cNvPr id="27" name="Rounded Rectangle 200">
            <a:extLst>
              <a:ext uri="{FF2B5EF4-FFF2-40B4-BE49-F238E27FC236}">
                <a16:creationId xmlns:a16="http://schemas.microsoft.com/office/drawing/2014/main" id="{6DEC3AB1-9244-913E-D1E7-361C0B4B40B1}"/>
              </a:ext>
            </a:extLst>
          </p:cNvPr>
          <p:cNvSpPr>
            <a:spLocks noGrp="1"/>
          </p:cNvSpPr>
          <p:nvPr/>
        </p:nvSpPr>
        <p:spPr>
          <a:xfrm>
            <a:off x="4572000" y="4095750"/>
            <a:ext cx="2762250" cy="2286000"/>
          </a:xfrm>
          <a:prstGeom prst="roundRect">
            <a:avLst>
              <a:gd name="adj" fmla="val 3333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Backend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Node.js / Express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REST APIs and auth</a:t>
            </a:r>
          </a:p>
        </p:txBody>
      </p:sp>
      <p:sp>
        <p:nvSpPr>
          <p:cNvPr id="28" name="Rounded Rectangle 201">
            <a:extLst>
              <a:ext uri="{FF2B5EF4-FFF2-40B4-BE49-F238E27FC236}">
                <a16:creationId xmlns:a16="http://schemas.microsoft.com/office/drawing/2014/main" id="{BB3EDE15-41A5-A331-55B3-6A7499C4ECF4}"/>
              </a:ext>
            </a:extLst>
          </p:cNvPr>
          <p:cNvSpPr>
            <a:spLocks noGrp="1"/>
          </p:cNvSpPr>
          <p:nvPr/>
        </p:nvSpPr>
        <p:spPr>
          <a:xfrm>
            <a:off x="7905750" y="4095750"/>
            <a:ext cx="2762250" cy="2286000"/>
          </a:xfrm>
          <a:prstGeom prst="roundRect">
            <a:avLst>
              <a:gd name="adj" fmla="val 3333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Data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PostgreSQL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Profiles, projects, invites</a:t>
            </a:r>
          </a:p>
        </p:txBody>
      </p:sp>
      <p:sp>
        <p:nvSpPr>
          <p:cNvPr id="29" name="Rounded Rectangle 202">
            <a:extLst>
              <a:ext uri="{FF2B5EF4-FFF2-40B4-BE49-F238E27FC236}">
                <a16:creationId xmlns:a16="http://schemas.microsoft.com/office/drawing/2014/main" id="{80A83120-0189-086D-E9DF-1A7C37A6C659}"/>
              </a:ext>
            </a:extLst>
          </p:cNvPr>
          <p:cNvSpPr>
            <a:spLocks noGrp="1"/>
          </p:cNvSpPr>
          <p:nvPr/>
        </p:nvSpPr>
        <p:spPr>
          <a:xfrm>
            <a:off x="11239500" y="4095750"/>
            <a:ext cx="2762250" cy="2286000"/>
          </a:xfrm>
          <a:prstGeom prst="roundRect">
            <a:avLst>
              <a:gd name="adj" fmla="val 3333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Matching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Rule engine + embeddings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Explainable ranking</a:t>
            </a:r>
          </a:p>
        </p:txBody>
      </p:sp>
      <p:sp>
        <p:nvSpPr>
          <p:cNvPr id="30" name="Rounded Rectangle 203">
            <a:extLst>
              <a:ext uri="{FF2B5EF4-FFF2-40B4-BE49-F238E27FC236}">
                <a16:creationId xmlns:a16="http://schemas.microsoft.com/office/drawing/2014/main" id="{5FE728E7-963C-B66A-18E0-823514DEFC59}"/>
              </a:ext>
            </a:extLst>
          </p:cNvPr>
          <p:cNvSpPr>
            <a:spLocks noGrp="1"/>
          </p:cNvSpPr>
          <p:nvPr/>
        </p:nvSpPr>
        <p:spPr>
          <a:xfrm>
            <a:off x="14573250" y="4095750"/>
            <a:ext cx="2762250" cy="2286000"/>
          </a:xfrm>
          <a:prstGeom prst="roundRect">
            <a:avLst>
              <a:gd name="adj" fmla="val 3333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Integration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GitHub OAuth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Opt-in public metadata</a:t>
            </a:r>
          </a:p>
        </p:txBody>
      </p:sp>
      <p:sp>
        <p:nvSpPr>
          <p:cNvPr id="31" name="Rounded Rectangle 204">
            <a:extLst>
              <a:ext uri="{FF2B5EF4-FFF2-40B4-BE49-F238E27FC236}">
                <a16:creationId xmlns:a16="http://schemas.microsoft.com/office/drawing/2014/main" id="{C7A9A250-A529-A646-1E24-AA78F438BC18}"/>
              </a:ext>
            </a:extLst>
          </p:cNvPr>
          <p:cNvSpPr>
            <a:spLocks noGrp="1"/>
          </p:cNvSpPr>
          <p:nvPr/>
        </p:nvSpPr>
        <p:spPr>
          <a:xfrm>
            <a:off x="1434325" y="7167838"/>
            <a:ext cx="14287500" cy="1142999"/>
          </a:xfrm>
          <a:prstGeom prst="roundRect">
            <a:avLst>
              <a:gd name="adj" fmla="val 11429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2800" b="1" dirty="0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MVP fallback: keyword and tag </a:t>
            </a:r>
            <a:r>
              <a:rPr lang="en-US" sz="2800" b="1" dirty="0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matching keeps the demo reliable if an external AI service is unavailable</a:t>
            </a:r>
            <a:r>
              <a:rPr sz="1650" b="1" dirty="0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sp>
        <p:nvSpPr>
          <p:cNvPr id="35" name="object 20">
            <a:extLst>
              <a:ext uri="{FF2B5EF4-FFF2-40B4-BE49-F238E27FC236}">
                <a16:creationId xmlns:a16="http://schemas.microsoft.com/office/drawing/2014/main" id="{F17514E5-1FF1-C571-416F-EFA1F8BA257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7294423" y="9723511"/>
            <a:ext cx="2567304" cy="31622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47129" y="1713507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0" y="0"/>
                </a:moveTo>
                <a:lnTo>
                  <a:pt x="190499" y="0"/>
                </a:lnTo>
                <a:lnTo>
                  <a:pt x="190499" y="991267"/>
                </a:lnTo>
                <a:lnTo>
                  <a:pt x="0" y="991267"/>
                </a:lnTo>
                <a:lnTo>
                  <a:pt x="0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50" spc="75" dirty="0"/>
              <a:t>UNIQUE</a:t>
            </a:r>
            <a:r>
              <a:rPr sz="5550" spc="50" dirty="0"/>
              <a:t> </a:t>
            </a:r>
            <a:r>
              <a:rPr sz="5550" dirty="0"/>
              <a:t>SELLING</a:t>
            </a:r>
            <a:r>
              <a:rPr sz="5550" spc="70" dirty="0"/>
              <a:t> </a:t>
            </a:r>
            <a:r>
              <a:rPr sz="5550" dirty="0"/>
              <a:t>PROPOSITION</a:t>
            </a:r>
            <a:r>
              <a:rPr sz="5550" spc="65" dirty="0"/>
              <a:t> </a:t>
            </a:r>
            <a:r>
              <a:rPr sz="5550" spc="-20" dirty="0"/>
              <a:t>(USP)</a:t>
            </a:r>
            <a:endParaRPr sz="5550" dirty="0"/>
          </a:p>
        </p:txBody>
      </p:sp>
      <p:grpSp>
        <p:nvGrpSpPr>
          <p:cNvPr id="4" name="object 4"/>
          <p:cNvGrpSpPr/>
          <p:nvPr/>
        </p:nvGrpSpPr>
        <p:grpSpPr>
          <a:xfrm>
            <a:off x="14876206" y="2001243"/>
            <a:ext cx="3043555" cy="262890"/>
            <a:chOff x="14876206" y="2001243"/>
            <a:chExt cx="3043555" cy="262890"/>
          </a:xfrm>
        </p:grpSpPr>
        <p:sp>
          <p:nvSpPr>
            <p:cNvPr id="5" name="object 5"/>
            <p:cNvSpPr/>
            <p:nvPr/>
          </p:nvSpPr>
          <p:spPr>
            <a:xfrm>
              <a:off x="14876206" y="2132607"/>
              <a:ext cx="2912110" cy="0"/>
            </a:xfrm>
            <a:custGeom>
              <a:avLst/>
              <a:gdLst/>
              <a:ahLst/>
              <a:cxnLst/>
              <a:rect l="l" t="t" r="r" b="b"/>
              <a:pathLst>
                <a:path w="2912109">
                  <a:moveTo>
                    <a:pt x="0" y="0"/>
                  </a:moveTo>
                  <a:lnTo>
                    <a:pt x="2911637" y="0"/>
                  </a:lnTo>
                </a:path>
              </a:pathLst>
            </a:custGeom>
            <a:ln w="11429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1" y="2001243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4" y="262727"/>
                  </a:moveTo>
                  <a:lnTo>
                    <a:pt x="80232" y="252404"/>
                  </a:lnTo>
                  <a:lnTo>
                    <a:pt x="38476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6" y="38475"/>
                  </a:lnTo>
                  <a:lnTo>
                    <a:pt x="80232" y="10323"/>
                  </a:lnTo>
                  <a:lnTo>
                    <a:pt x="131364" y="0"/>
                  </a:lnTo>
                  <a:lnTo>
                    <a:pt x="182497" y="10323"/>
                  </a:lnTo>
                  <a:lnTo>
                    <a:pt x="224252" y="38475"/>
                  </a:lnTo>
                  <a:lnTo>
                    <a:pt x="252405" y="80231"/>
                  </a:lnTo>
                  <a:lnTo>
                    <a:pt x="262728" y="131363"/>
                  </a:lnTo>
                  <a:lnTo>
                    <a:pt x="252405" y="182496"/>
                  </a:lnTo>
                  <a:lnTo>
                    <a:pt x="224252" y="224252"/>
                  </a:lnTo>
                  <a:lnTo>
                    <a:pt x="182497" y="252404"/>
                  </a:lnTo>
                  <a:lnTo>
                    <a:pt x="131364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57530" y="71388"/>
            <a:ext cx="17099280" cy="9902190"/>
            <a:chOff x="557530" y="71388"/>
            <a:chExt cx="17099280" cy="9902190"/>
          </a:xfrm>
        </p:grpSpPr>
        <p:sp>
          <p:nvSpPr>
            <p:cNvPr id="8" name="object 8"/>
            <p:cNvSpPr/>
            <p:nvPr/>
          </p:nvSpPr>
          <p:spPr>
            <a:xfrm>
              <a:off x="10855980" y="9846035"/>
              <a:ext cx="6800850" cy="127000"/>
            </a:xfrm>
            <a:custGeom>
              <a:avLst/>
              <a:gdLst/>
              <a:ahLst/>
              <a:cxnLst/>
              <a:rect l="l" t="t" r="r" b="b"/>
              <a:pathLst>
                <a:path w="6800850" h="127000">
                  <a:moveTo>
                    <a:pt x="0" y="0"/>
                  </a:moveTo>
                  <a:lnTo>
                    <a:pt x="6800500" y="0"/>
                  </a:lnTo>
                  <a:lnTo>
                    <a:pt x="6800500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7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7530" y="9846035"/>
              <a:ext cx="6633845" cy="127000"/>
            </a:xfrm>
            <a:custGeom>
              <a:avLst/>
              <a:gdLst/>
              <a:ahLst/>
              <a:cxnLst/>
              <a:rect l="l" t="t" r="r" b="b"/>
              <a:pathLst>
                <a:path w="6633845" h="127000">
                  <a:moveTo>
                    <a:pt x="0" y="0"/>
                  </a:moveTo>
                  <a:lnTo>
                    <a:pt x="6633806" y="0"/>
                  </a:lnTo>
                  <a:lnTo>
                    <a:pt x="6633806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3813" y="71388"/>
              <a:ext cx="2442693" cy="179577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7738" y="83378"/>
              <a:ext cx="1393752" cy="167250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  <p:sp>
        <p:nvSpPr>
          <p:cNvPr id="14" name="Google Shape;204;p6">
            <a:extLst>
              <a:ext uri="{FF2B5EF4-FFF2-40B4-BE49-F238E27FC236}">
                <a16:creationId xmlns:a16="http://schemas.microsoft.com/office/drawing/2014/main" id="{9AD3CC6E-F709-DBF3-EB30-C68D5753A223}"/>
              </a:ext>
            </a:extLst>
          </p:cNvPr>
          <p:cNvSpPr>
            <a:spLocks noGrp="1"/>
          </p:cNvSpPr>
          <p:nvPr/>
        </p:nvSpPr>
        <p:spPr>
          <a:xfrm>
            <a:off x="834817" y="1703982"/>
            <a:ext cx="14041391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09;p6">
            <a:extLst>
              <a:ext uri="{FF2B5EF4-FFF2-40B4-BE49-F238E27FC236}">
                <a16:creationId xmlns:a16="http://schemas.microsoft.com/office/drawing/2014/main" id="{74778459-0832-D2E9-B322-E73444EA9C9E}"/>
              </a:ext>
            </a:extLst>
          </p:cNvPr>
          <p:cNvSpPr>
            <a:spLocks noGrp="1"/>
          </p:cNvSpPr>
          <p:nvPr/>
        </p:nvSpPr>
        <p:spPr>
          <a:xfrm>
            <a:off x="17656482" y="2001244"/>
            <a:ext cx="262728" cy="2627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10;p6">
            <a:extLst>
              <a:ext uri="{FF2B5EF4-FFF2-40B4-BE49-F238E27FC236}">
                <a16:creationId xmlns:a16="http://schemas.microsoft.com/office/drawing/2014/main" id="{66D85957-58CD-B6F4-7977-3749137678FC}"/>
              </a:ext>
            </a:extLst>
          </p:cNvPr>
          <p:cNvSpPr>
            <a:spLocks noGrp="1"/>
          </p:cNvSpPr>
          <p:nvPr/>
        </p:nvSpPr>
        <p:spPr>
          <a:xfrm>
            <a:off x="17681112" y="2013559"/>
            <a:ext cx="213466" cy="2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Rounded Rectangle 220">
            <a:extLst>
              <a:ext uri="{FF2B5EF4-FFF2-40B4-BE49-F238E27FC236}">
                <a16:creationId xmlns:a16="http://schemas.microsoft.com/office/drawing/2014/main" id="{D04BC363-B9C0-E9FF-8228-43F3502AE343}"/>
              </a:ext>
            </a:extLst>
          </p:cNvPr>
          <p:cNvSpPr>
            <a:spLocks noGrp="1"/>
          </p:cNvSpPr>
          <p:nvPr/>
        </p:nvSpPr>
        <p:spPr>
          <a:xfrm>
            <a:off x="1619250" y="3143250"/>
            <a:ext cx="14763750" cy="809625"/>
          </a:xfrm>
          <a:prstGeom prst="roundRect">
            <a:avLst>
              <a:gd name="adj" fmla="val 9412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Most tools list people. SkillBridge helps form a balanced team around an actual project need.</a:t>
            </a:r>
          </a:p>
        </p:txBody>
      </p:sp>
      <p:sp>
        <p:nvSpPr>
          <p:cNvPr id="28" name="Rounded Rectangle 221">
            <a:extLst>
              <a:ext uri="{FF2B5EF4-FFF2-40B4-BE49-F238E27FC236}">
                <a16:creationId xmlns:a16="http://schemas.microsoft.com/office/drawing/2014/main" id="{902754D5-52A9-6CCF-AB31-2184476C10BF}"/>
              </a:ext>
            </a:extLst>
          </p:cNvPr>
          <p:cNvSpPr>
            <a:spLocks noGrp="1"/>
          </p:cNvSpPr>
          <p:nvPr/>
        </p:nvSpPr>
        <p:spPr>
          <a:xfrm>
            <a:off x="1476375" y="4762500"/>
            <a:ext cx="4762500" cy="2095500"/>
          </a:xfrm>
          <a:prstGeom prst="roundRect">
            <a:avLst>
              <a:gd name="adj" fmla="val 3636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Explainable recommendations</a:t>
            </a:r>
          </a:p>
          <a:p>
            <a:pPr>
              <a:def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Students see why a match fits</a:t>
            </a:r>
            <a:r>
              <a:rPr sz="18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sp>
        <p:nvSpPr>
          <p:cNvPr id="29" name="Rounded Rectangle 222">
            <a:extLst>
              <a:ext uri="{FF2B5EF4-FFF2-40B4-BE49-F238E27FC236}">
                <a16:creationId xmlns:a16="http://schemas.microsoft.com/office/drawing/2014/main" id="{0F009E33-2C07-30FA-E76E-2D736DD3C6FC}"/>
              </a:ext>
            </a:extLst>
          </p:cNvPr>
          <p:cNvSpPr>
            <a:spLocks noGrp="1"/>
          </p:cNvSpPr>
          <p:nvPr/>
        </p:nvSpPr>
        <p:spPr>
          <a:xfrm>
            <a:off x="6953250" y="4762500"/>
            <a:ext cx="4762500" cy="2095500"/>
          </a:xfrm>
          <a:prstGeom prst="roundRect">
            <a:avLst>
              <a:gd name="adj" fmla="val 3636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Complementary teams</a:t>
            </a:r>
          </a:p>
          <a:p>
            <a:pPr>
              <a:def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Creators fill missing roles instead of collecting duplicate skills.</a:t>
            </a:r>
          </a:p>
        </p:txBody>
      </p:sp>
      <p:sp>
        <p:nvSpPr>
          <p:cNvPr id="30" name="Rounded Rectangle 223">
            <a:extLst>
              <a:ext uri="{FF2B5EF4-FFF2-40B4-BE49-F238E27FC236}">
                <a16:creationId xmlns:a16="http://schemas.microsoft.com/office/drawing/2014/main" id="{DEDE2E16-1F9D-EB0F-A90E-BF2454B7FDE9}"/>
              </a:ext>
            </a:extLst>
          </p:cNvPr>
          <p:cNvSpPr>
            <a:spLocks noGrp="1"/>
          </p:cNvSpPr>
          <p:nvPr/>
        </p:nvSpPr>
        <p:spPr>
          <a:xfrm>
            <a:off x="12430125" y="4762500"/>
            <a:ext cx="4762500" cy="2095500"/>
          </a:xfrm>
          <a:prstGeom prst="roundRect">
            <a:avLst>
              <a:gd name="adj" fmla="val 3636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Campus context</a:t>
            </a:r>
          </a:p>
          <a:p>
            <a:pPr>
              <a:def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Availability, learning goals and hackathon urgency guide discovery.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47129" y="1713507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0" y="0"/>
                </a:moveTo>
                <a:lnTo>
                  <a:pt x="190499" y="0"/>
                </a:lnTo>
                <a:lnTo>
                  <a:pt x="190499" y="991267"/>
                </a:lnTo>
                <a:lnTo>
                  <a:pt x="0" y="991267"/>
                </a:lnTo>
                <a:lnTo>
                  <a:pt x="0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FEASIBILITY</a:t>
            </a:r>
            <a:r>
              <a:rPr spc="-325" dirty="0"/>
              <a:t> </a:t>
            </a:r>
            <a:r>
              <a:rPr spc="-350" dirty="0"/>
              <a:t>&amp;</a:t>
            </a:r>
            <a:r>
              <a:rPr spc="-114" dirty="0"/>
              <a:t> </a:t>
            </a:r>
            <a:r>
              <a:rPr spc="95" dirty="0"/>
              <a:t>COMPETITORS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902190"/>
            <a:chOff x="557530" y="71388"/>
            <a:chExt cx="17362170" cy="9902190"/>
          </a:xfrm>
        </p:grpSpPr>
        <p:sp>
          <p:nvSpPr>
            <p:cNvPr id="5" name="object 5"/>
            <p:cNvSpPr/>
            <p:nvPr/>
          </p:nvSpPr>
          <p:spPr>
            <a:xfrm>
              <a:off x="13316655" y="2194520"/>
              <a:ext cx="4524375" cy="0"/>
            </a:xfrm>
            <a:custGeom>
              <a:avLst/>
              <a:gdLst/>
              <a:ahLst/>
              <a:cxnLst/>
              <a:rect l="l" t="t" r="r" b="b"/>
              <a:pathLst>
                <a:path w="4524375">
                  <a:moveTo>
                    <a:pt x="0" y="0"/>
                  </a:moveTo>
                  <a:lnTo>
                    <a:pt x="4524213" y="0"/>
                  </a:lnTo>
                </a:path>
              </a:pathLst>
            </a:custGeom>
            <a:ln w="11429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1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1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1" y="10323"/>
                  </a:lnTo>
                  <a:lnTo>
                    <a:pt x="131363" y="0"/>
                  </a:lnTo>
                  <a:lnTo>
                    <a:pt x="182497" y="10323"/>
                  </a:lnTo>
                  <a:lnTo>
                    <a:pt x="224253" y="38475"/>
                  </a:lnTo>
                  <a:lnTo>
                    <a:pt x="252405" y="80231"/>
                  </a:lnTo>
                  <a:lnTo>
                    <a:pt x="262728" y="131363"/>
                  </a:lnTo>
                  <a:lnTo>
                    <a:pt x="252405" y="182496"/>
                  </a:lnTo>
                  <a:lnTo>
                    <a:pt x="224253" y="224252"/>
                  </a:lnTo>
                  <a:lnTo>
                    <a:pt x="182497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846035"/>
              <a:ext cx="6800850" cy="127000"/>
            </a:xfrm>
            <a:custGeom>
              <a:avLst/>
              <a:gdLst/>
              <a:ahLst/>
              <a:cxnLst/>
              <a:rect l="l" t="t" r="r" b="b"/>
              <a:pathLst>
                <a:path w="6800850" h="127000">
                  <a:moveTo>
                    <a:pt x="0" y="0"/>
                  </a:moveTo>
                  <a:lnTo>
                    <a:pt x="6800500" y="0"/>
                  </a:lnTo>
                  <a:lnTo>
                    <a:pt x="6800500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7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530" y="9846035"/>
              <a:ext cx="6633845" cy="127000"/>
            </a:xfrm>
            <a:custGeom>
              <a:avLst/>
              <a:gdLst/>
              <a:ahLst/>
              <a:cxnLst/>
              <a:rect l="l" t="t" r="r" b="b"/>
              <a:pathLst>
                <a:path w="6633845" h="127000">
                  <a:moveTo>
                    <a:pt x="0" y="0"/>
                  </a:moveTo>
                  <a:lnTo>
                    <a:pt x="6633806" y="0"/>
                  </a:lnTo>
                  <a:lnTo>
                    <a:pt x="6633806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3813" y="71388"/>
              <a:ext cx="2442693" cy="179577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7738" y="83378"/>
              <a:ext cx="1393752" cy="1672504"/>
            </a:xfrm>
            <a:prstGeom prst="rect">
              <a:avLst/>
            </a:prstGeom>
          </p:spPr>
        </p:pic>
      </p:grpSp>
      <p:sp>
        <p:nvSpPr>
          <p:cNvPr id="13" name="Google Shape;225;p7">
            <a:extLst>
              <a:ext uri="{FF2B5EF4-FFF2-40B4-BE49-F238E27FC236}">
                <a16:creationId xmlns:a16="http://schemas.microsoft.com/office/drawing/2014/main" id="{70F95FBB-81A7-5950-62DF-5091079EF525}"/>
              </a:ext>
            </a:extLst>
          </p:cNvPr>
          <p:cNvSpPr>
            <a:spLocks noGrp="1"/>
          </p:cNvSpPr>
          <p:nvPr/>
        </p:nvSpPr>
        <p:spPr>
          <a:xfrm>
            <a:off x="834817" y="1703982"/>
            <a:ext cx="1248184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30;p7">
            <a:extLst>
              <a:ext uri="{FF2B5EF4-FFF2-40B4-BE49-F238E27FC236}">
                <a16:creationId xmlns:a16="http://schemas.microsoft.com/office/drawing/2014/main" id="{2B56CDD5-607A-1A05-8007-DD4AC090A763}"/>
              </a:ext>
            </a:extLst>
          </p:cNvPr>
          <p:cNvSpPr>
            <a:spLocks noGrp="1"/>
          </p:cNvSpPr>
          <p:nvPr/>
        </p:nvSpPr>
        <p:spPr>
          <a:xfrm>
            <a:off x="17656481" y="2063156"/>
            <a:ext cx="262728" cy="2627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31;p7">
            <a:extLst>
              <a:ext uri="{FF2B5EF4-FFF2-40B4-BE49-F238E27FC236}">
                <a16:creationId xmlns:a16="http://schemas.microsoft.com/office/drawing/2014/main" id="{B68466B0-EF50-2858-6263-602337BBC728}"/>
              </a:ext>
            </a:extLst>
          </p:cNvPr>
          <p:cNvSpPr>
            <a:spLocks noGrp="1"/>
          </p:cNvSpPr>
          <p:nvPr/>
        </p:nvSpPr>
        <p:spPr>
          <a:xfrm>
            <a:off x="17681111" y="2075471"/>
            <a:ext cx="213466" cy="2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Rounded Rectangle 241">
            <a:extLst>
              <a:ext uri="{FF2B5EF4-FFF2-40B4-BE49-F238E27FC236}">
                <a16:creationId xmlns:a16="http://schemas.microsoft.com/office/drawing/2014/main" id="{1AF9250A-2600-C493-C69C-3FA04D8B4C7A}"/>
              </a:ext>
            </a:extLst>
          </p:cNvPr>
          <p:cNvSpPr>
            <a:spLocks noGrp="1"/>
          </p:cNvSpPr>
          <p:nvPr/>
        </p:nvSpPr>
        <p:spPr>
          <a:xfrm>
            <a:off x="1190625" y="3333750"/>
            <a:ext cx="4000500" cy="1047750"/>
          </a:xfrm>
          <a:prstGeom prst="roundRect">
            <a:avLst>
              <a:gd name="adj" fmla="val 7273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95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24-hour MVP</a:t>
            </a:r>
          </a:p>
        </p:txBody>
      </p:sp>
      <p:sp>
        <p:nvSpPr>
          <p:cNvPr id="27" name="Rounded Rectangle 242">
            <a:extLst>
              <a:ext uri="{FF2B5EF4-FFF2-40B4-BE49-F238E27FC236}">
                <a16:creationId xmlns:a16="http://schemas.microsoft.com/office/drawing/2014/main" id="{A7D1F77E-6754-7577-69B6-B6DCDB59616C}"/>
              </a:ext>
            </a:extLst>
          </p:cNvPr>
          <p:cNvSpPr>
            <a:spLocks noGrp="1"/>
          </p:cNvSpPr>
          <p:nvPr/>
        </p:nvSpPr>
        <p:spPr>
          <a:xfrm>
            <a:off x="1190625" y="4572000"/>
            <a:ext cx="4000500" cy="1809750"/>
          </a:xfrm>
          <a:prstGeom prst="roundRect">
            <a:avLst>
              <a:gd name="adj" fmla="val 4211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Profile • project post • rule matching • explanation • invite flow</a:t>
            </a:r>
          </a:p>
        </p:txBody>
      </p:sp>
      <p:sp>
        <p:nvSpPr>
          <p:cNvPr id="28" name="Rounded Rectangle 243">
            <a:extLst>
              <a:ext uri="{FF2B5EF4-FFF2-40B4-BE49-F238E27FC236}">
                <a16:creationId xmlns:a16="http://schemas.microsoft.com/office/drawing/2014/main" id="{7F5B1E23-AA48-DB0B-A7DE-F2B40E41ED49}"/>
              </a:ext>
            </a:extLst>
          </p:cNvPr>
          <p:cNvSpPr>
            <a:spLocks noGrp="1"/>
          </p:cNvSpPr>
          <p:nvPr/>
        </p:nvSpPr>
        <p:spPr>
          <a:xfrm>
            <a:off x="7143750" y="3333750"/>
            <a:ext cx="4000500" cy="1047750"/>
          </a:xfrm>
          <a:prstGeom prst="roundRect">
            <a:avLst>
              <a:gd name="adj" fmla="val 7273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95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Existing options</a:t>
            </a:r>
          </a:p>
        </p:txBody>
      </p:sp>
      <p:sp>
        <p:nvSpPr>
          <p:cNvPr id="29" name="Rounded Rectangle 244">
            <a:extLst>
              <a:ext uri="{FF2B5EF4-FFF2-40B4-BE49-F238E27FC236}">
                <a16:creationId xmlns:a16="http://schemas.microsoft.com/office/drawing/2014/main" id="{A4220B5D-8757-9709-5CA5-922A670CEAEF}"/>
              </a:ext>
            </a:extLst>
          </p:cNvPr>
          <p:cNvSpPr>
            <a:spLocks noGrp="1"/>
          </p:cNvSpPr>
          <p:nvPr/>
        </p:nvSpPr>
        <p:spPr>
          <a:xfrm>
            <a:off x="7143750" y="4572000"/>
            <a:ext cx="4000500" cy="1809750"/>
          </a:xfrm>
          <a:prstGeom prst="roundRect">
            <a:avLst>
              <a:gd name="adj" fmla="val 4211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Group chats are unstructured. Professional networks do not expose campus role gaps</a:t>
            </a:r>
            <a:r>
              <a:rPr sz="15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sp>
        <p:nvSpPr>
          <p:cNvPr id="30" name="Rounded Rectangle 245">
            <a:extLst>
              <a:ext uri="{FF2B5EF4-FFF2-40B4-BE49-F238E27FC236}">
                <a16:creationId xmlns:a16="http://schemas.microsoft.com/office/drawing/2014/main" id="{43C53E9B-37C2-44BD-E8CD-1FACD92A86DD}"/>
              </a:ext>
            </a:extLst>
          </p:cNvPr>
          <p:cNvSpPr>
            <a:spLocks noGrp="1"/>
          </p:cNvSpPr>
          <p:nvPr/>
        </p:nvSpPr>
        <p:spPr>
          <a:xfrm>
            <a:off x="13096875" y="3333750"/>
            <a:ext cx="4000500" cy="1047750"/>
          </a:xfrm>
          <a:prstGeom prst="roundRect">
            <a:avLst>
              <a:gd name="adj" fmla="val 7273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95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Risk controls</a:t>
            </a:r>
          </a:p>
        </p:txBody>
      </p:sp>
      <p:sp>
        <p:nvSpPr>
          <p:cNvPr id="31" name="Rounded Rectangle 246">
            <a:extLst>
              <a:ext uri="{FF2B5EF4-FFF2-40B4-BE49-F238E27FC236}">
                <a16:creationId xmlns:a16="http://schemas.microsoft.com/office/drawing/2014/main" id="{FDB1A511-3129-040A-1A0C-E93A13AF52C4}"/>
              </a:ext>
            </a:extLst>
          </p:cNvPr>
          <p:cNvSpPr>
            <a:spLocks noGrp="1"/>
          </p:cNvSpPr>
          <p:nvPr/>
        </p:nvSpPr>
        <p:spPr>
          <a:xfrm>
            <a:off x="13096875" y="4572000"/>
            <a:ext cx="4000500" cy="1809750"/>
          </a:xfrm>
          <a:prstGeom prst="roundRect">
            <a:avLst>
              <a:gd name="adj" fmla="val 4211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Consent-first GitHub import, user visibility controls, report/block flow and rule-based fallback.</a:t>
            </a:r>
          </a:p>
        </p:txBody>
      </p:sp>
      <p:sp>
        <p:nvSpPr>
          <p:cNvPr id="32" name="Rounded Rectangle 247">
            <a:extLst>
              <a:ext uri="{FF2B5EF4-FFF2-40B4-BE49-F238E27FC236}">
                <a16:creationId xmlns:a16="http://schemas.microsoft.com/office/drawing/2014/main" id="{E698C7A8-69E0-0352-F61B-EA03D3E08ECB}"/>
              </a:ext>
            </a:extLst>
          </p:cNvPr>
          <p:cNvSpPr>
            <a:spLocks noGrp="1"/>
          </p:cNvSpPr>
          <p:nvPr/>
        </p:nvSpPr>
        <p:spPr>
          <a:xfrm>
            <a:off x="1524000" y="7381875"/>
            <a:ext cx="15240000" cy="540944"/>
          </a:xfrm>
          <a:prstGeom prst="roundRect">
            <a:avLst>
              <a:gd name="adj" fmla="val 11429"/>
            </a:avLst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2800" b="1" dirty="0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Success will be measured during a pilot using time to first match, invite acceptance and team-role coverage. Prototype figures are illustrative only.</a:t>
            </a:r>
          </a:p>
        </p:txBody>
      </p:sp>
      <p:sp>
        <p:nvSpPr>
          <p:cNvPr id="33" name="object 20">
            <a:extLst>
              <a:ext uri="{FF2B5EF4-FFF2-40B4-BE49-F238E27FC236}">
                <a16:creationId xmlns:a16="http://schemas.microsoft.com/office/drawing/2014/main" id="{394A3E5F-0312-35BF-C775-A493103855D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7294423" y="9723511"/>
            <a:ext cx="2567304" cy="31622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129" y="1713507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0" y="0"/>
                </a:moveTo>
                <a:lnTo>
                  <a:pt x="190499" y="0"/>
                </a:lnTo>
                <a:lnTo>
                  <a:pt x="190499" y="991267"/>
                </a:lnTo>
                <a:lnTo>
                  <a:pt x="0" y="991267"/>
                </a:lnTo>
                <a:lnTo>
                  <a:pt x="0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89949" y="0"/>
            <a:ext cx="13829422" cy="10287000"/>
            <a:chOff x="4089949" y="0"/>
            <a:chExt cx="13829422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9949" y="0"/>
              <a:ext cx="10286999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807364" y="2194519"/>
              <a:ext cx="6033770" cy="0"/>
            </a:xfrm>
            <a:custGeom>
              <a:avLst/>
              <a:gdLst/>
              <a:ahLst/>
              <a:cxnLst/>
              <a:rect l="l" t="t" r="r" b="b"/>
              <a:pathLst>
                <a:path w="6033769">
                  <a:moveTo>
                    <a:pt x="0" y="0"/>
                  </a:moveTo>
                  <a:lnTo>
                    <a:pt x="6033504" y="0"/>
                  </a:lnTo>
                </a:path>
              </a:pathLst>
            </a:custGeom>
            <a:ln w="11429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1" y="2063156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1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1" y="10323"/>
                  </a:lnTo>
                  <a:lnTo>
                    <a:pt x="131363" y="0"/>
                  </a:lnTo>
                  <a:lnTo>
                    <a:pt x="182497" y="10323"/>
                  </a:lnTo>
                  <a:lnTo>
                    <a:pt x="224253" y="38475"/>
                  </a:lnTo>
                  <a:lnTo>
                    <a:pt x="252405" y="80231"/>
                  </a:lnTo>
                  <a:lnTo>
                    <a:pt x="262728" y="131363"/>
                  </a:lnTo>
                  <a:lnTo>
                    <a:pt x="252405" y="182496"/>
                  </a:lnTo>
                  <a:lnTo>
                    <a:pt x="224253" y="224252"/>
                  </a:lnTo>
                  <a:lnTo>
                    <a:pt x="182497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5" dirty="0"/>
              <a:t>RESEARCH</a:t>
            </a:r>
            <a:r>
              <a:rPr spc="-65" dirty="0"/>
              <a:t> </a:t>
            </a:r>
            <a:r>
              <a:rPr spc="-350" dirty="0"/>
              <a:t>&amp;</a:t>
            </a:r>
            <a:r>
              <a:rPr spc="-60" dirty="0"/>
              <a:t> </a:t>
            </a:r>
            <a:r>
              <a:rPr spc="240" dirty="0"/>
              <a:t>REFERENCE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57530" y="71388"/>
            <a:ext cx="17099300" cy="9901647"/>
            <a:chOff x="557530" y="71388"/>
            <a:chExt cx="17099300" cy="9901647"/>
          </a:xfrm>
        </p:grpSpPr>
        <p:sp>
          <p:nvSpPr>
            <p:cNvPr id="9" name="object 9"/>
            <p:cNvSpPr/>
            <p:nvPr/>
          </p:nvSpPr>
          <p:spPr>
            <a:xfrm>
              <a:off x="10855980" y="9846035"/>
              <a:ext cx="6800850" cy="127000"/>
            </a:xfrm>
            <a:custGeom>
              <a:avLst/>
              <a:gdLst/>
              <a:ahLst/>
              <a:cxnLst/>
              <a:rect l="l" t="t" r="r" b="b"/>
              <a:pathLst>
                <a:path w="6800850" h="127000">
                  <a:moveTo>
                    <a:pt x="0" y="0"/>
                  </a:moveTo>
                  <a:lnTo>
                    <a:pt x="6800500" y="0"/>
                  </a:lnTo>
                  <a:lnTo>
                    <a:pt x="6800500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7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7530" y="9846035"/>
              <a:ext cx="6633845" cy="127000"/>
            </a:xfrm>
            <a:custGeom>
              <a:avLst/>
              <a:gdLst/>
              <a:ahLst/>
              <a:cxnLst/>
              <a:rect l="l" t="t" r="r" b="b"/>
              <a:pathLst>
                <a:path w="6633845" h="127000">
                  <a:moveTo>
                    <a:pt x="0" y="0"/>
                  </a:moveTo>
                  <a:lnTo>
                    <a:pt x="6633806" y="0"/>
                  </a:lnTo>
                  <a:lnTo>
                    <a:pt x="6633806" y="12699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3813" y="71388"/>
              <a:ext cx="2442693" cy="179577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7738" y="83378"/>
              <a:ext cx="1393752" cy="1672504"/>
            </a:xfrm>
            <a:prstGeom prst="rect">
              <a:avLst/>
            </a:prstGeom>
          </p:spPr>
        </p:pic>
      </p:grpSp>
      <p:sp>
        <p:nvSpPr>
          <p:cNvPr id="15" name="Rounded Rectangle 264">
            <a:extLst>
              <a:ext uri="{FF2B5EF4-FFF2-40B4-BE49-F238E27FC236}">
                <a16:creationId xmlns:a16="http://schemas.microsoft.com/office/drawing/2014/main" id="{FBB800C1-C809-F7A4-D4DE-E402979838A1}"/>
              </a:ext>
            </a:extLst>
          </p:cNvPr>
          <p:cNvSpPr>
            <a:spLocks noGrp="1"/>
          </p:cNvSpPr>
          <p:nvPr/>
        </p:nvSpPr>
        <p:spPr>
          <a:xfrm>
            <a:off x="7048500" y="3238500"/>
            <a:ext cx="4191000" cy="857250"/>
          </a:xfrm>
          <a:prstGeom prst="roundRect">
            <a:avLst>
              <a:gd name="adj" fmla="val 8889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 algn="l">
              <a:defRPr sz="202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lang="en-IN" sz="22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Solution</a:t>
            </a:r>
            <a:endParaRPr sz="2200" b="1" dirty="0">
              <a:solidFill>
                <a:srgbClr val="2A2A2A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" name="Rounded Rectangle 265">
            <a:extLst>
              <a:ext uri="{FF2B5EF4-FFF2-40B4-BE49-F238E27FC236}">
                <a16:creationId xmlns:a16="http://schemas.microsoft.com/office/drawing/2014/main" id="{4B871637-4BEB-E7F7-1EFB-0F60D8C81B49}"/>
              </a:ext>
            </a:extLst>
          </p:cNvPr>
          <p:cNvSpPr>
            <a:spLocks noGrp="1"/>
          </p:cNvSpPr>
          <p:nvPr/>
        </p:nvSpPr>
        <p:spPr>
          <a:xfrm>
            <a:off x="7048500" y="4381500"/>
            <a:ext cx="4191000" cy="2857500"/>
          </a:xfrm>
          <a:prstGeom prst="roundRect">
            <a:avLst>
              <a:gd name="adj" fmla="val 266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lang="en-US" sz="2000" b="1" dirty="0" err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SkillBridge</a:t>
            </a:r>
            <a:r>
              <a:rPr lang="en-US"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 addresses this gap through explainable AI matching, role-gap detection, and structured project-based team formation.</a:t>
            </a:r>
            <a:endParaRPr sz="2000" b="1" dirty="0">
              <a:solidFill>
                <a:srgbClr val="2A2A2A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3" name="Rounded Rectangle 266">
            <a:extLst>
              <a:ext uri="{FF2B5EF4-FFF2-40B4-BE49-F238E27FC236}">
                <a16:creationId xmlns:a16="http://schemas.microsoft.com/office/drawing/2014/main" id="{7E34F073-AD36-A795-1B59-992CA012617A}"/>
              </a:ext>
            </a:extLst>
          </p:cNvPr>
          <p:cNvSpPr>
            <a:spLocks noGrp="1"/>
          </p:cNvSpPr>
          <p:nvPr/>
        </p:nvSpPr>
        <p:spPr>
          <a:xfrm>
            <a:off x="12763500" y="3238500"/>
            <a:ext cx="4191000" cy="857250"/>
          </a:xfrm>
          <a:prstGeom prst="roundRect">
            <a:avLst>
              <a:gd name="adj" fmla="val 8889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202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2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References</a:t>
            </a:r>
          </a:p>
        </p:txBody>
      </p:sp>
      <p:sp>
        <p:nvSpPr>
          <p:cNvPr id="25" name="Rounded Rectangle 267">
            <a:extLst>
              <a:ext uri="{FF2B5EF4-FFF2-40B4-BE49-F238E27FC236}">
                <a16:creationId xmlns:a16="http://schemas.microsoft.com/office/drawing/2014/main" id="{F6328092-790A-4FF4-F9DE-F0BAAE43664A}"/>
              </a:ext>
            </a:extLst>
          </p:cNvPr>
          <p:cNvSpPr>
            <a:spLocks noGrp="1"/>
          </p:cNvSpPr>
          <p:nvPr/>
        </p:nvSpPr>
        <p:spPr>
          <a:xfrm>
            <a:off x="12763500" y="4381500"/>
            <a:ext cx="4191000" cy="2857500"/>
          </a:xfrm>
          <a:prstGeom prst="roundRect">
            <a:avLst>
              <a:gd name="adj" fmla="val 266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Build With Bharat 4.0 rulebook</a:t>
            </a:r>
          </a:p>
          <a:p>
            <a:pPr>
              <a:def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React / Next.js documentation</a:t>
            </a:r>
          </a:p>
          <a:p>
            <a:pPr>
              <a:def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PostgreSQL documentation</a:t>
            </a:r>
          </a:p>
          <a:p>
            <a:pPr>
              <a:def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GitHub OAuth documentation</a:t>
            </a:r>
          </a:p>
        </p:txBody>
      </p:sp>
      <p:sp>
        <p:nvSpPr>
          <p:cNvPr id="27" name="Rounded Rectangle 262">
            <a:extLst>
              <a:ext uri="{FF2B5EF4-FFF2-40B4-BE49-F238E27FC236}">
                <a16:creationId xmlns:a16="http://schemas.microsoft.com/office/drawing/2014/main" id="{DE141B44-639A-720E-E167-435464ED5F5C}"/>
              </a:ext>
            </a:extLst>
          </p:cNvPr>
          <p:cNvSpPr>
            <a:spLocks noGrp="1"/>
          </p:cNvSpPr>
          <p:nvPr/>
        </p:nvSpPr>
        <p:spPr>
          <a:xfrm>
            <a:off x="1333500" y="3238500"/>
            <a:ext cx="4191000" cy="857250"/>
          </a:xfrm>
          <a:prstGeom prst="roundRect">
            <a:avLst>
              <a:gd name="adj" fmla="val 8889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202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lang="en-IN" sz="2200" spc="215" dirty="0"/>
              <a:t>Research</a:t>
            </a:r>
            <a:endParaRPr sz="2200" b="1" dirty="0">
              <a:solidFill>
                <a:srgbClr val="2A2A2A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9" name="Rounded Rectangle 263">
            <a:extLst>
              <a:ext uri="{FF2B5EF4-FFF2-40B4-BE49-F238E27FC236}">
                <a16:creationId xmlns:a16="http://schemas.microsoft.com/office/drawing/2014/main" id="{B53766C8-EA73-82BD-0CBF-F34E28A8B610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4191000" cy="2857500"/>
          </a:xfrm>
          <a:prstGeom prst="roundRect">
            <a:avLst>
              <a:gd name="adj" fmla="val 266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7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There is a gap for a campus-focused platform that intelligently matches students, projects, teammates, and mentors using skills, interests, availability, experience, and team-role complementarity, while clearly explaining why each recommendation is made.</a:t>
            </a:r>
          </a:p>
        </p:txBody>
      </p:sp>
      <p:sp>
        <p:nvSpPr>
          <p:cNvPr id="36" name="object 20">
            <a:extLst>
              <a:ext uri="{FF2B5EF4-FFF2-40B4-BE49-F238E27FC236}">
                <a16:creationId xmlns:a16="http://schemas.microsoft.com/office/drawing/2014/main" id="{83B310FC-F52B-A93C-6EED-178325505CC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7294423" y="9723511"/>
            <a:ext cx="2567304" cy="31622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BUILD</a:t>
            </a:r>
            <a:r>
              <a:rPr spc="9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-85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pc="-229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pc="-25" dirty="0">
                <a:solidFill>
                  <a:srgbClr val="FF5C1F"/>
                </a:solidFill>
              </a:rPr>
              <a:t>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540</Words>
  <Application>Microsoft Office PowerPoint</Application>
  <PresentationFormat>Custom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Montserrat</vt:lpstr>
      <vt:lpstr>Nirmala UI</vt:lpstr>
      <vt:lpstr>Tahoma</vt:lpstr>
      <vt:lpstr>Verdana</vt:lpstr>
      <vt:lpstr>Office Theme</vt:lpstr>
      <vt:lpstr>BUILD</vt:lpstr>
      <vt:lpstr>PROBLEM STATEMENT</vt:lpstr>
      <vt:lpstr>SOLUTION</vt:lpstr>
      <vt:lpstr>FLOW OF SOLUTION</vt:lpstr>
      <vt:lpstr>TECH STACK</vt:lpstr>
      <vt:lpstr>UNIQUE SELLING PROPOSITION (USP)</vt:lpstr>
      <vt:lpstr>FEASIBILITY &amp; COMPETITORS</vt:lpstr>
      <vt:lpstr>RESEARCH &amp; 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with Bharat 4.0  PPT Template.pptx</dc:title>
  <dc:creator>rudraksh porwal</dc:creator>
  <cp:lastModifiedBy>Rudraksh porwal</cp:lastModifiedBy>
  <cp:revision>3</cp:revision>
  <dcterms:created xsi:type="dcterms:W3CDTF">2026-09-30T13:01:03Z</dcterms:created>
  <dcterms:modified xsi:type="dcterms:W3CDTF">2026-09-30T15:16:53Z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2026-09-30T00:00:00Z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2026-09-30T00:00:00Z</vt:filetime>
  </property>
</Properties>
</file>